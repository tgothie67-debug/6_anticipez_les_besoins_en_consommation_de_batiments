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C7853C-536D-4A76-A0AE-DD22124D55A5}" styleName="Style à thème 1 - Accentuation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D7AC3CCA-C797-4891-BE02-D94E43425B78}" styleName="Style moyen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156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3B418A06-E946-2A0E-1941-FDEE4628D98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7925CEA0-8384-8C49-F90C-4E3AA119004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6B345A-A0DF-425A-BA4A-3B70769BD6ED}" type="datetimeFigureOut">
              <a:rPr lang="fr-FR" smtClean="0"/>
              <a:t>27/03/2026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039EC0D3-97C8-A7E3-33BE-855401AEF5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5C2EC95-ACD4-C88A-4721-DFC670D2FDA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99D9E5-8777-4873-921E-85241A3811B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5128394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74C3FE-3C4F-468E-9817-8DCA5283E7A1}" type="datetimeFigureOut">
              <a:rPr lang="fr-FR" smtClean="0"/>
              <a:t>27/03/2026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88FF82-9EA4-4620-8D52-435A0121B88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6875383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175477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A6D7167-4AB9-8F7E-C069-EF3554A742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C68A112-2CC2-701A-9F0A-D43EF06241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5F2A725-DAC1-D7D3-37DB-5132B013FE5D}"/>
              </a:ext>
            </a:extLst>
          </p:cNvPr>
          <p:cNvSpPr/>
          <p:nvPr userDrawn="1"/>
        </p:nvSpPr>
        <p:spPr>
          <a:xfrm>
            <a:off x="0" y="0"/>
            <a:ext cx="9768453" cy="6858000"/>
          </a:xfrm>
          <a:prstGeom prst="rect">
            <a:avLst/>
          </a:prstGeom>
          <a:solidFill>
            <a:srgbClr val="6F7877">
              <a:alpha val="8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776661C1-2CA0-8628-9982-6DA07FB19C4F}"/>
              </a:ext>
            </a:extLst>
          </p:cNvPr>
          <p:cNvSpPr txBox="1"/>
          <p:nvPr userDrawn="1"/>
        </p:nvSpPr>
        <p:spPr>
          <a:xfrm>
            <a:off x="11403435" y="6421556"/>
            <a:ext cx="7885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E733169A-3303-4A96-8FD7-DF89C11EE23F}" type="slidenum">
              <a:rPr lang="fr-FR" smtClean="0">
                <a:solidFill>
                  <a:schemeClr val="bg1"/>
                </a:solidFill>
              </a:rPr>
              <a:t>‹N°›</a:t>
            </a:fld>
            <a:endParaRPr lang="fr-FR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49665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ithub.com/tgothie67-debug/6_Anticipez_les_besoins_en_consommation_de_batiments/blob/main/data_dictionary.xlsx" TargetMode="Externa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://35.180.125.72:3000/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134;p13">
            <a:extLst>
              <a:ext uri="{FF2B5EF4-FFF2-40B4-BE49-F238E27FC236}">
                <a16:creationId xmlns:a16="http://schemas.microsoft.com/office/drawing/2014/main" id="{D394B806-70B5-540D-5FBD-3D9874FA0184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152138" y="136524"/>
            <a:ext cx="9768453" cy="120818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>
              <a:spcBef>
                <a:spcPts val="0"/>
              </a:spcBef>
            </a:pPr>
            <a:r>
              <a:rPr lang="fr-FR" sz="36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Développement et déploiement Cloud AWS d’un modèle prédictif pour la consommation d’énergie</a:t>
            </a:r>
            <a:endParaRPr sz="3600" b="1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A5909F8C-7AA4-9DB0-CA5E-92B58C392477}"/>
              </a:ext>
            </a:extLst>
          </p:cNvPr>
          <p:cNvSpPr txBox="1"/>
          <p:nvPr/>
        </p:nvSpPr>
        <p:spPr>
          <a:xfrm>
            <a:off x="152138" y="2613272"/>
            <a:ext cx="9482750" cy="22510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fr-FR" sz="2400" dirty="0">
                <a:solidFill>
                  <a:schemeClr val="bg1"/>
                </a:solidFill>
              </a:rPr>
              <a:t>Ce projet vise à prédire ces données pour les </a:t>
            </a:r>
            <a:r>
              <a:rPr lang="fr-FR" sz="2400" b="1" i="1" dirty="0">
                <a:solidFill>
                  <a:schemeClr val="bg1"/>
                </a:solidFill>
              </a:rPr>
              <a:t>bâtiments non résidentiels </a:t>
            </a:r>
            <a:r>
              <a:rPr lang="fr-FR" sz="2400" dirty="0">
                <a:solidFill>
                  <a:schemeClr val="bg1"/>
                </a:solidFill>
              </a:rPr>
              <a:t>pour lesquels elles n’ont </a:t>
            </a:r>
            <a:r>
              <a:rPr lang="fr-FR" sz="2400" b="1" i="1" dirty="0">
                <a:solidFill>
                  <a:schemeClr val="bg1"/>
                </a:solidFill>
              </a:rPr>
              <a:t>pas encore été mesurées</a:t>
            </a:r>
            <a:r>
              <a:rPr lang="fr-FR" sz="2400" dirty="0">
                <a:solidFill>
                  <a:schemeClr val="bg1"/>
                </a:solidFill>
              </a:rPr>
              <a:t>, en exploitant leurs caractéristiques structurelles (taille, usage, année de construction, localisation, etc…).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5A09B28F-E2DA-D6EA-6A6D-B6AE101C0A92}"/>
              </a:ext>
            </a:extLst>
          </p:cNvPr>
          <p:cNvSpPr txBox="1"/>
          <p:nvPr/>
        </p:nvSpPr>
        <p:spPr>
          <a:xfrm>
            <a:off x="152138" y="1470202"/>
            <a:ext cx="9482750" cy="11430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fr-FR" sz="2400" dirty="0">
                <a:solidFill>
                  <a:schemeClr val="bg1"/>
                </a:solidFill>
              </a:rPr>
              <a:t>La ville de </a:t>
            </a:r>
            <a:r>
              <a:rPr lang="fr-FR" sz="2400" dirty="0" err="1">
                <a:solidFill>
                  <a:schemeClr val="bg1"/>
                </a:solidFill>
              </a:rPr>
              <a:t>Seatle</a:t>
            </a:r>
            <a:r>
              <a:rPr lang="fr-FR" sz="2400" dirty="0">
                <a:solidFill>
                  <a:schemeClr val="bg1"/>
                </a:solidFill>
              </a:rPr>
              <a:t> a réalisé des relevés détaillés mais coûteux sur les </a:t>
            </a:r>
            <a:r>
              <a:rPr lang="fr-FR" sz="2400" b="1" i="1" dirty="0">
                <a:solidFill>
                  <a:schemeClr val="bg1"/>
                </a:solidFill>
              </a:rPr>
              <a:t>émissions de CO₂ </a:t>
            </a:r>
            <a:r>
              <a:rPr lang="fr-FR" sz="2400" dirty="0">
                <a:solidFill>
                  <a:schemeClr val="bg1"/>
                </a:solidFill>
              </a:rPr>
              <a:t>et la </a:t>
            </a:r>
            <a:r>
              <a:rPr lang="fr-FR" sz="2400" b="1" i="1" dirty="0">
                <a:solidFill>
                  <a:schemeClr val="bg1"/>
                </a:solidFill>
              </a:rPr>
              <a:t>consommation énergétique</a:t>
            </a:r>
            <a:r>
              <a:rPr lang="fr-FR" sz="2400" dirty="0">
                <a:solidFill>
                  <a:schemeClr val="bg1"/>
                </a:solidFill>
              </a:rPr>
              <a:t> des bâtiments.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C4216C88-3653-4949-EA15-93EB4740544E}"/>
              </a:ext>
            </a:extLst>
          </p:cNvPr>
          <p:cNvSpPr txBox="1"/>
          <p:nvPr/>
        </p:nvSpPr>
        <p:spPr>
          <a:xfrm>
            <a:off x="152138" y="4864337"/>
            <a:ext cx="9482750" cy="16970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fr-FR" sz="2400" dirty="0">
                <a:solidFill>
                  <a:schemeClr val="bg1"/>
                </a:solidFill>
              </a:rPr>
              <a:t>Il</a:t>
            </a:r>
            <a:r>
              <a:rPr lang="fr-FR" sz="2400" b="1" dirty="0">
                <a:solidFill>
                  <a:schemeClr val="bg1"/>
                </a:solidFill>
              </a:rPr>
              <a:t> </a:t>
            </a:r>
            <a:r>
              <a:rPr lang="fr-FR" sz="2400" dirty="0">
                <a:solidFill>
                  <a:schemeClr val="bg1"/>
                </a:solidFill>
              </a:rPr>
              <a:t>s’agira </a:t>
            </a:r>
            <a:r>
              <a:rPr lang="fr-FR" sz="2400" b="1" i="1" dirty="0">
                <a:solidFill>
                  <a:schemeClr val="bg1"/>
                </a:solidFill>
              </a:rPr>
              <a:t>d’analyser les données</a:t>
            </a:r>
            <a:r>
              <a:rPr lang="fr-FR" sz="2400" dirty="0">
                <a:solidFill>
                  <a:schemeClr val="bg1"/>
                </a:solidFill>
              </a:rPr>
              <a:t>, </a:t>
            </a:r>
            <a:r>
              <a:rPr lang="fr-FR" sz="2400" b="1" i="1" dirty="0">
                <a:solidFill>
                  <a:schemeClr val="bg1"/>
                </a:solidFill>
              </a:rPr>
              <a:t>tester des modèles supervisés</a:t>
            </a:r>
            <a:r>
              <a:rPr lang="fr-FR" sz="2400" dirty="0">
                <a:solidFill>
                  <a:schemeClr val="bg1"/>
                </a:solidFill>
              </a:rPr>
              <a:t>, </a:t>
            </a:r>
            <a:r>
              <a:rPr lang="fr-FR" sz="2400" b="1" i="1" dirty="0">
                <a:solidFill>
                  <a:schemeClr val="bg1"/>
                </a:solidFill>
              </a:rPr>
              <a:t>identifier les facteurs clés</a:t>
            </a:r>
            <a:r>
              <a:rPr lang="fr-FR" sz="2400" dirty="0">
                <a:solidFill>
                  <a:schemeClr val="bg1"/>
                </a:solidFill>
              </a:rPr>
              <a:t> influençant les prédictions et </a:t>
            </a:r>
            <a:r>
              <a:rPr lang="fr-FR" sz="2400" b="1" i="1" dirty="0">
                <a:solidFill>
                  <a:schemeClr val="bg1"/>
                </a:solidFill>
              </a:rPr>
              <a:t>déployer le modèle </a:t>
            </a:r>
            <a:r>
              <a:rPr lang="fr-FR" sz="2400" dirty="0">
                <a:solidFill>
                  <a:schemeClr val="bg1"/>
                </a:solidFill>
              </a:rPr>
              <a:t>sur Cloud pour rendre son utilisation en libre service et en temps réel.</a:t>
            </a:r>
          </a:p>
        </p:txBody>
      </p:sp>
    </p:spTree>
    <p:extLst>
      <p:ext uri="{BB962C8B-B14F-4D97-AF65-F5344CB8AC3E}">
        <p14:creationId xmlns:p14="http://schemas.microsoft.com/office/powerpoint/2010/main" val="40915596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2" grpId="0"/>
      <p:bldP spid="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au 1">
            <a:extLst>
              <a:ext uri="{FF2B5EF4-FFF2-40B4-BE49-F238E27FC236}">
                <a16:creationId xmlns:a16="http://schemas.microsoft.com/office/drawing/2014/main" id="{1A1A86B3-0DD9-95EE-83C9-B23958DEF1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0653968"/>
              </p:ext>
            </p:extLst>
          </p:nvPr>
        </p:nvGraphicFramePr>
        <p:xfrm>
          <a:off x="304538" y="1425388"/>
          <a:ext cx="7468713" cy="4813262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2489571">
                  <a:extLst>
                    <a:ext uri="{9D8B030D-6E8A-4147-A177-3AD203B41FA5}">
                      <a16:colId xmlns:a16="http://schemas.microsoft.com/office/drawing/2014/main" val="3823718214"/>
                    </a:ext>
                  </a:extLst>
                </a:gridCol>
                <a:gridCol w="2489571">
                  <a:extLst>
                    <a:ext uri="{9D8B030D-6E8A-4147-A177-3AD203B41FA5}">
                      <a16:colId xmlns:a16="http://schemas.microsoft.com/office/drawing/2014/main" val="2059486956"/>
                    </a:ext>
                  </a:extLst>
                </a:gridCol>
                <a:gridCol w="2489571">
                  <a:extLst>
                    <a:ext uri="{9D8B030D-6E8A-4147-A177-3AD203B41FA5}">
                      <a16:colId xmlns:a16="http://schemas.microsoft.com/office/drawing/2014/main" val="3757832545"/>
                    </a:ext>
                  </a:extLst>
                </a:gridCol>
              </a:tblGrid>
              <a:tr h="2597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300" b="1" i="1"/>
                        <a:t>Catégorie</a:t>
                      </a: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300" b="1" i="1" dirty="0"/>
                        <a:t>Colonnes</a:t>
                      </a: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300" b="1" i="1" dirty="0"/>
                        <a:t>Remarques</a:t>
                      </a:r>
                    </a:p>
                  </a:txBody>
                  <a:tcPr marL="64945" marR="64945" marT="32473" marB="32473" anchor="ctr"/>
                </a:tc>
                <a:extLst>
                  <a:ext uri="{0D108BD9-81ED-4DB2-BD59-A6C34878D82A}">
                    <a16:rowId xmlns:a16="http://schemas.microsoft.com/office/drawing/2014/main" val="2970550525"/>
                  </a:ext>
                </a:extLst>
              </a:tr>
              <a:tr h="10391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300" b="1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Variables de taille</a:t>
                      </a:r>
                      <a:endParaRPr lang="fr-FR" sz="13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 err="1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PropertyGFATotal</a:t>
                      </a:r>
                      <a:r>
                        <a:rPr lang="en-US" sz="13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, </a:t>
                      </a:r>
                      <a:r>
                        <a:rPr lang="en-US" sz="1300" dirty="0" err="1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PropertyGFABuilding</a:t>
                      </a:r>
                      <a:r>
                        <a:rPr lang="en-US" sz="13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(s), </a:t>
                      </a:r>
                      <a:r>
                        <a:rPr lang="en-US" sz="1300" dirty="0" err="1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PropertyGFAParking</a:t>
                      </a:r>
                      <a:r>
                        <a:rPr lang="en-US" sz="13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, </a:t>
                      </a:r>
                      <a:r>
                        <a:rPr lang="en-US" sz="1300" dirty="0" err="1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NumberofFloors</a:t>
                      </a:r>
                      <a:r>
                        <a:rPr lang="en-US" sz="13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, </a:t>
                      </a:r>
                      <a:r>
                        <a:rPr lang="en-US" sz="1300" dirty="0" err="1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NumberofBuildings</a:t>
                      </a:r>
                      <a:endParaRPr lang="en-US" sz="13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300" dirty="0" err="1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PropertyGFATotal</a:t>
                      </a:r>
                      <a:r>
                        <a:rPr lang="fr-FR" sz="13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 = </a:t>
                      </a:r>
                      <a:r>
                        <a:rPr lang="fr-FR" sz="1300" b="0" i="1" kern="1200" dirty="0" err="1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PropertyGFABuilding</a:t>
                      </a:r>
                      <a:r>
                        <a:rPr lang="fr-FR" sz="1300" b="0" i="1" kern="1200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(s) + </a:t>
                      </a:r>
                      <a:r>
                        <a:rPr lang="fr-FR" sz="1300" b="0" i="1" kern="1200" dirty="0" err="1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PropertyGFAParking</a:t>
                      </a:r>
                      <a:endParaRPr lang="fr-FR" sz="1300" b="0" kern="1200" dirty="0"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>
                        <a:buNone/>
                      </a:pPr>
                      <a:endParaRPr lang="fr-FR" sz="13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>
                        <a:buNone/>
                      </a:pPr>
                      <a:r>
                        <a:rPr lang="fr-FR" sz="1300" dirty="0" err="1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PropertyGFAParking</a:t>
                      </a:r>
                      <a:r>
                        <a:rPr lang="fr-FR" sz="13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 ne consomme pas d’énergie</a:t>
                      </a:r>
                    </a:p>
                  </a:txBody>
                  <a:tcPr marL="64945" marR="64945" marT="32473" marB="32473" anchor="ctr"/>
                </a:tc>
                <a:extLst>
                  <a:ext uri="{0D108BD9-81ED-4DB2-BD59-A6C34878D82A}">
                    <a16:rowId xmlns:a16="http://schemas.microsoft.com/office/drawing/2014/main" val="3552831502"/>
                  </a:ext>
                </a:extLst>
              </a:tr>
              <a:tr h="10391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300" b="1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Variables d’usage</a:t>
                      </a:r>
                      <a:endParaRPr lang="fr-FR" sz="13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3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PrimaryPropertyType, BuildingType, ListOfAllPropertyUseTypes, LargestPropertyUseType, LargestPropertyUseTypeGFA</a:t>
                      </a: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3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SecondLargest et ThirdLargest : peu de données</a:t>
                      </a:r>
                    </a:p>
                  </a:txBody>
                  <a:tcPr marL="64945" marR="64945" marT="32473" marB="32473" anchor="ctr"/>
                </a:tc>
                <a:extLst>
                  <a:ext uri="{0D108BD9-81ED-4DB2-BD59-A6C34878D82A}">
                    <a16:rowId xmlns:a16="http://schemas.microsoft.com/office/drawing/2014/main" val="3347794097"/>
                  </a:ext>
                </a:extLst>
              </a:tr>
              <a:tr h="2597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300" b="1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Variables temporelles</a:t>
                      </a:r>
                      <a:endParaRPr lang="fr-FR" sz="13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3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YearBuilt</a:t>
                      </a: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fr-FR" sz="13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64945" marR="64945" marT="32473" marB="32473" anchor="ctr"/>
                </a:tc>
                <a:extLst>
                  <a:ext uri="{0D108BD9-81ED-4DB2-BD59-A6C34878D82A}">
                    <a16:rowId xmlns:a16="http://schemas.microsoft.com/office/drawing/2014/main" val="3918736830"/>
                  </a:ext>
                </a:extLst>
              </a:tr>
              <a:tr h="4546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300" b="1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Variables géographiques</a:t>
                      </a:r>
                      <a:endParaRPr lang="fr-FR" sz="13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Latitude, Longitude, Neighborhood, ZipCode, CouncilDistrictCode</a:t>
                      </a: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fr-FR" sz="13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64945" marR="64945" marT="32473" marB="32473" anchor="ctr"/>
                </a:tc>
                <a:extLst>
                  <a:ext uri="{0D108BD9-81ED-4DB2-BD59-A6C34878D82A}">
                    <a16:rowId xmlns:a16="http://schemas.microsoft.com/office/drawing/2014/main" val="2985319321"/>
                  </a:ext>
                </a:extLst>
              </a:tr>
              <a:tr h="4546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300" b="1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Colonnes cibles</a:t>
                      </a:r>
                      <a:endParaRPr lang="fr-FR" sz="130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300" dirty="0" err="1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TotalGHGEmissions</a:t>
                      </a:r>
                      <a:r>
                        <a:rPr lang="fr-FR" sz="1300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, </a:t>
                      </a:r>
                      <a:r>
                        <a:rPr lang="fr-FR" sz="1300" dirty="0" err="1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SiteEnergyUse</a:t>
                      </a:r>
                      <a:r>
                        <a:rPr lang="fr-FR" sz="1300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(</a:t>
                      </a:r>
                      <a:r>
                        <a:rPr lang="fr-FR" sz="1300" dirty="0" err="1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kBtu</a:t>
                      </a:r>
                      <a:r>
                        <a:rPr lang="fr-FR" sz="1300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)</a:t>
                      </a: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fr-FR" sz="1300"/>
                    </a:p>
                  </a:txBody>
                  <a:tcPr marL="64945" marR="64945" marT="32473" marB="32473" anchor="ctr"/>
                </a:tc>
                <a:extLst>
                  <a:ext uri="{0D108BD9-81ED-4DB2-BD59-A6C34878D82A}">
                    <a16:rowId xmlns:a16="http://schemas.microsoft.com/office/drawing/2014/main" val="1011260557"/>
                  </a:ext>
                </a:extLst>
              </a:tr>
              <a:tr h="8442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300" b="1" dirty="0">
                          <a:solidFill>
                            <a:srgbClr val="C00000"/>
                          </a:solidFill>
                        </a:rPr>
                        <a:t>Variables énergétiques</a:t>
                      </a:r>
                      <a:endParaRPr lang="fr-FR" sz="1300" dirty="0">
                        <a:solidFill>
                          <a:srgbClr val="C00000"/>
                        </a:solidFill>
                      </a:endParaRP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300">
                          <a:solidFill>
                            <a:srgbClr val="C00000"/>
                          </a:solidFill>
                        </a:rPr>
                        <a:t>SiteEUI(kBtu/sf), SourceEUI(kBtu/sf), Electricity(kWh), NaturalGas(therms), etc.</a:t>
                      </a: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300" dirty="0">
                          <a:solidFill>
                            <a:srgbClr val="C00000"/>
                          </a:solidFill>
                        </a:rPr>
                        <a:t>Directement liées aux cibles, risque de data </a:t>
                      </a:r>
                      <a:r>
                        <a:rPr lang="fr-FR" sz="1300" dirty="0" err="1">
                          <a:solidFill>
                            <a:srgbClr val="C00000"/>
                          </a:solidFill>
                        </a:rPr>
                        <a:t>leakage</a:t>
                      </a:r>
                      <a:endParaRPr lang="fr-FR" sz="1300" dirty="0">
                        <a:solidFill>
                          <a:srgbClr val="C00000"/>
                        </a:solidFill>
                      </a:endParaRPr>
                    </a:p>
                  </a:txBody>
                  <a:tcPr marL="64945" marR="64945" marT="32473" marB="32473" anchor="ctr"/>
                </a:tc>
                <a:extLst>
                  <a:ext uri="{0D108BD9-81ED-4DB2-BD59-A6C34878D82A}">
                    <a16:rowId xmlns:a16="http://schemas.microsoft.com/office/drawing/2014/main" val="2962572455"/>
                  </a:ext>
                </a:extLst>
              </a:tr>
            </a:tbl>
          </a:graphicData>
        </a:graphic>
      </p:graphicFrame>
      <p:sp>
        <p:nvSpPr>
          <p:cNvPr id="3" name="Google Shape;134;p13">
            <a:extLst>
              <a:ext uri="{FF2B5EF4-FFF2-40B4-BE49-F238E27FC236}">
                <a16:creationId xmlns:a16="http://schemas.microsoft.com/office/drawing/2014/main" id="{7CAB39FE-9727-A584-C766-D930A8710364}"/>
              </a:ext>
            </a:extLst>
          </p:cNvPr>
          <p:cNvSpPr txBox="1">
            <a:spLocks/>
          </p:cNvSpPr>
          <p:nvPr/>
        </p:nvSpPr>
        <p:spPr>
          <a:xfrm>
            <a:off x="152138" y="136524"/>
            <a:ext cx="9768453" cy="120818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fr-FR" sz="36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Utilisation des variables structurelles pour les données d’entrainement (taille, usage, géographie)</a:t>
            </a:r>
          </a:p>
        </p:txBody>
      </p:sp>
      <p:pic>
        <p:nvPicPr>
          <p:cNvPr id="5" name="Image 4">
            <a:hlinkClick r:id="rId2"/>
            <a:extLst>
              <a:ext uri="{FF2B5EF4-FFF2-40B4-BE49-F238E27FC236}">
                <a16:creationId xmlns:a16="http://schemas.microsoft.com/office/drawing/2014/main" id="{873284EC-8AF8-4D83-3982-08852A5B0D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3336" y="6292440"/>
            <a:ext cx="556478" cy="525466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A71B888D-FC63-93B9-9290-F4807523664B}"/>
              </a:ext>
            </a:extLst>
          </p:cNvPr>
          <p:cNvSpPr txBox="1"/>
          <p:nvPr/>
        </p:nvSpPr>
        <p:spPr>
          <a:xfrm>
            <a:off x="4688728" y="6373123"/>
            <a:ext cx="44285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i="1" dirty="0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Télécharger le dictionnaire des données </a:t>
            </a:r>
            <a:r>
              <a:rPr lang="fr-FR" i="1" dirty="0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</a:t>
            </a:r>
            <a:endParaRPr lang="fr-FR" i="1" dirty="0">
              <a:solidFill>
                <a:schemeClr val="accent2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5132619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4;p13">
            <a:extLst>
              <a:ext uri="{FF2B5EF4-FFF2-40B4-BE49-F238E27FC236}">
                <a16:creationId xmlns:a16="http://schemas.microsoft.com/office/drawing/2014/main" id="{6CA96BDE-A12C-E399-DF6B-84476F7F197C}"/>
              </a:ext>
            </a:extLst>
          </p:cNvPr>
          <p:cNvSpPr txBox="1">
            <a:spLocks/>
          </p:cNvSpPr>
          <p:nvPr/>
        </p:nvSpPr>
        <p:spPr>
          <a:xfrm>
            <a:off x="152138" y="136524"/>
            <a:ext cx="9768453" cy="120818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fr-FR" sz="36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Garder les bâtiments non résidentiels, supprimer les valeurs incohérentes et les </a:t>
            </a:r>
            <a:r>
              <a:rPr lang="fr-FR" sz="3600" b="1" dirty="0" err="1">
                <a:solidFill>
                  <a:schemeClr val="accent4">
                    <a:lumMod val="20000"/>
                    <a:lumOff val="80000"/>
                  </a:schemeClr>
                </a:solidFill>
              </a:rPr>
              <a:t>outliers</a:t>
            </a:r>
            <a:endParaRPr lang="fr-FR" sz="3600" b="1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AE1C345A-8124-F613-BAD2-C998D2BE767E}"/>
              </a:ext>
            </a:extLst>
          </p:cNvPr>
          <p:cNvSpPr/>
          <p:nvPr/>
        </p:nvSpPr>
        <p:spPr>
          <a:xfrm>
            <a:off x="605602" y="1269402"/>
            <a:ext cx="1734188" cy="1816556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i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BuildingType</a:t>
            </a:r>
            <a:endParaRPr lang="fr-FR" sz="1200" b="1" i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fr-FR" sz="105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(3376 lignes)</a:t>
            </a:r>
          </a:p>
          <a:p>
            <a:pPr algn="ctr">
              <a:lnSpc>
                <a:spcPct val="150000"/>
              </a:lnSpc>
            </a:pPr>
            <a:r>
              <a:rPr lang="en-US" sz="1050" dirty="0" err="1">
                <a:solidFill>
                  <a:schemeClr val="accent6">
                    <a:lumMod val="75000"/>
                  </a:schemeClr>
                </a:solidFill>
              </a:rPr>
              <a:t>NonResidential</a:t>
            </a:r>
            <a:endParaRPr lang="en-US" sz="1050" dirty="0">
              <a:solidFill>
                <a:schemeClr val="accent6">
                  <a:lumMod val="75000"/>
                </a:schemeClr>
              </a:solidFill>
            </a:endParaRPr>
          </a:p>
          <a:p>
            <a:pPr algn="ctr"/>
            <a:r>
              <a:rPr lang="en-US" sz="1050" dirty="0">
                <a:solidFill>
                  <a:schemeClr val="accent6">
                    <a:lumMod val="75000"/>
                  </a:schemeClr>
                </a:solidFill>
              </a:rPr>
              <a:t>Nonresidential COS</a:t>
            </a:r>
          </a:p>
          <a:p>
            <a:pPr algn="ctr"/>
            <a:r>
              <a:rPr lang="en-US" sz="1050" dirty="0">
                <a:solidFill>
                  <a:srgbClr val="C00000"/>
                </a:solidFill>
              </a:rPr>
              <a:t>Multifamily MR (5-9)</a:t>
            </a:r>
          </a:p>
          <a:p>
            <a:pPr algn="ctr"/>
            <a:r>
              <a:rPr lang="en-US" sz="1050" dirty="0">
                <a:solidFill>
                  <a:schemeClr val="accent6">
                    <a:lumMod val="75000"/>
                  </a:schemeClr>
                </a:solidFill>
              </a:rPr>
              <a:t>SPS-District K-12</a:t>
            </a:r>
          </a:p>
          <a:p>
            <a:pPr algn="ctr"/>
            <a:r>
              <a:rPr lang="en-US" sz="1050" dirty="0">
                <a:solidFill>
                  <a:schemeClr val="accent6">
                    <a:lumMod val="75000"/>
                  </a:schemeClr>
                </a:solidFill>
              </a:rPr>
              <a:t>Campus</a:t>
            </a:r>
          </a:p>
          <a:p>
            <a:pPr algn="ctr"/>
            <a:r>
              <a:rPr lang="en-US" sz="1050" dirty="0">
                <a:solidFill>
                  <a:srgbClr val="C00000"/>
                </a:solidFill>
              </a:rPr>
              <a:t>Multifamily LR (1-4)</a:t>
            </a:r>
          </a:p>
          <a:p>
            <a:pPr algn="ctr"/>
            <a:r>
              <a:rPr lang="en-US" sz="1050" dirty="0">
                <a:solidFill>
                  <a:srgbClr val="C00000"/>
                </a:solidFill>
              </a:rPr>
              <a:t>Multifamily HR (10+)</a:t>
            </a:r>
          </a:p>
          <a:p>
            <a:pPr algn="ctr"/>
            <a:r>
              <a:rPr lang="en-US" sz="1050" dirty="0">
                <a:solidFill>
                  <a:schemeClr val="accent6">
                    <a:lumMod val="75000"/>
                  </a:schemeClr>
                </a:solidFill>
              </a:rPr>
              <a:t>Nonresidential WA</a:t>
            </a:r>
            <a:endParaRPr lang="fr-FR" sz="105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4" name="Flèche : droite 3">
            <a:extLst>
              <a:ext uri="{FF2B5EF4-FFF2-40B4-BE49-F238E27FC236}">
                <a16:creationId xmlns:a16="http://schemas.microsoft.com/office/drawing/2014/main" id="{F7F147BC-9F5A-2279-D54D-46CE5B070746}"/>
              </a:ext>
            </a:extLst>
          </p:cNvPr>
          <p:cNvSpPr/>
          <p:nvPr/>
        </p:nvSpPr>
        <p:spPr>
          <a:xfrm>
            <a:off x="2418938" y="1940116"/>
            <a:ext cx="871111" cy="475129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900" dirty="0"/>
              <a:t>-1708 lignes</a:t>
            </a:r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E05E09A4-C21B-F2B3-94B1-FAC52A57CB50}"/>
              </a:ext>
            </a:extLst>
          </p:cNvPr>
          <p:cNvSpPr/>
          <p:nvPr/>
        </p:nvSpPr>
        <p:spPr>
          <a:xfrm>
            <a:off x="3369197" y="1573589"/>
            <a:ext cx="1734188" cy="1208182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i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Outlier</a:t>
            </a:r>
            <a:r>
              <a:rPr lang="fr-FR" sz="1200" b="1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(colonne)</a:t>
            </a:r>
          </a:p>
          <a:p>
            <a:pPr algn="ctr"/>
            <a:r>
              <a:rPr lang="fr-FR" sz="105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(1668 lignes)</a:t>
            </a:r>
          </a:p>
          <a:p>
            <a:pPr algn="ctr"/>
            <a:endParaRPr lang="fr-FR" sz="105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ctr"/>
            <a:r>
              <a:rPr lang="fr-FR" sz="1050" dirty="0">
                <a:solidFill>
                  <a:schemeClr val="accent6">
                    <a:lumMod val="75000"/>
                  </a:schemeClr>
                </a:solidFill>
              </a:rPr>
              <a:t>Garder les bâtiments n’étant pas considéré comme des </a:t>
            </a:r>
            <a:r>
              <a:rPr lang="fr-FR" sz="1050" dirty="0" err="1">
                <a:solidFill>
                  <a:schemeClr val="accent6">
                    <a:lumMod val="75000"/>
                  </a:schemeClr>
                </a:solidFill>
              </a:rPr>
              <a:t>outliers</a:t>
            </a:r>
            <a:endParaRPr lang="fr-FR" sz="105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6" name="Flèche : droite 5">
            <a:extLst>
              <a:ext uri="{FF2B5EF4-FFF2-40B4-BE49-F238E27FC236}">
                <a16:creationId xmlns:a16="http://schemas.microsoft.com/office/drawing/2014/main" id="{F37CAB66-7CCC-E3BE-EB23-4A2C8B8BD38D}"/>
              </a:ext>
            </a:extLst>
          </p:cNvPr>
          <p:cNvSpPr/>
          <p:nvPr/>
        </p:nvSpPr>
        <p:spPr>
          <a:xfrm>
            <a:off x="5186247" y="1940116"/>
            <a:ext cx="871111" cy="475129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900" dirty="0"/>
              <a:t>-17 lignes</a:t>
            </a:r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C174AD7A-EE74-2397-F719-BDC4F44AB74A}"/>
              </a:ext>
            </a:extLst>
          </p:cNvPr>
          <p:cNvSpPr/>
          <p:nvPr/>
        </p:nvSpPr>
        <p:spPr>
          <a:xfrm>
            <a:off x="6140220" y="1573589"/>
            <a:ext cx="1734188" cy="1208182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i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ComplianceStatus</a:t>
            </a:r>
            <a:endParaRPr lang="fr-FR" sz="1200" b="1" i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fr-FR" sz="105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(1651 lignes)</a:t>
            </a:r>
          </a:p>
          <a:p>
            <a:pPr algn="ctr"/>
            <a:endParaRPr lang="fr-FR" sz="105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ctr"/>
            <a:r>
              <a:rPr lang="fr-FR" sz="1050" dirty="0">
                <a:solidFill>
                  <a:schemeClr val="accent6">
                    <a:lumMod val="75000"/>
                  </a:schemeClr>
                </a:solidFill>
              </a:rPr>
              <a:t>Garder les bâtiments avec le </a:t>
            </a:r>
            <a:r>
              <a:rPr lang="fr-FR" sz="1050" dirty="0" err="1">
                <a:solidFill>
                  <a:schemeClr val="accent6">
                    <a:lumMod val="75000"/>
                  </a:schemeClr>
                </a:solidFill>
              </a:rPr>
              <a:t>status</a:t>
            </a:r>
            <a:r>
              <a:rPr lang="fr-FR" sz="1050" dirty="0">
                <a:solidFill>
                  <a:schemeClr val="accent6">
                    <a:lumMod val="75000"/>
                  </a:schemeClr>
                </a:solidFill>
              </a:rPr>
              <a:t> ‘</a:t>
            </a:r>
            <a:r>
              <a:rPr lang="fr-FR" sz="1050" b="1" dirty="0">
                <a:solidFill>
                  <a:schemeClr val="accent6">
                    <a:lumMod val="75000"/>
                  </a:schemeClr>
                </a:solidFill>
              </a:rPr>
              <a:t>Compliant</a:t>
            </a:r>
            <a:r>
              <a:rPr lang="fr-FR" sz="1050" dirty="0">
                <a:solidFill>
                  <a:schemeClr val="accent6">
                    <a:lumMod val="75000"/>
                  </a:schemeClr>
                </a:solidFill>
              </a:rPr>
              <a:t>’ ou ‘</a:t>
            </a:r>
            <a:r>
              <a:rPr lang="fr-FR" sz="1050" b="1" dirty="0" err="1">
                <a:solidFill>
                  <a:schemeClr val="accent6">
                    <a:lumMod val="75000"/>
                  </a:schemeClr>
                </a:solidFill>
              </a:rPr>
              <a:t>Error</a:t>
            </a:r>
            <a:r>
              <a:rPr lang="fr-FR" sz="1050" b="1" dirty="0">
                <a:solidFill>
                  <a:schemeClr val="accent6">
                    <a:lumMod val="75000"/>
                  </a:schemeClr>
                </a:solidFill>
              </a:rPr>
              <a:t> - Correct Default Data’</a:t>
            </a:r>
          </a:p>
        </p:txBody>
      </p:sp>
      <p:sp>
        <p:nvSpPr>
          <p:cNvPr id="8" name="Flèche : angle droit 7">
            <a:extLst>
              <a:ext uri="{FF2B5EF4-FFF2-40B4-BE49-F238E27FC236}">
                <a16:creationId xmlns:a16="http://schemas.microsoft.com/office/drawing/2014/main" id="{091D68BE-61F3-8749-90FD-B9985FBF14E9}"/>
              </a:ext>
            </a:extLst>
          </p:cNvPr>
          <p:cNvSpPr/>
          <p:nvPr/>
        </p:nvSpPr>
        <p:spPr>
          <a:xfrm rot="10800000" flipH="1">
            <a:off x="7993129" y="2069164"/>
            <a:ext cx="789217" cy="1381328"/>
          </a:xfrm>
          <a:prstGeom prst="bentUpArrow">
            <a:avLst>
              <a:gd name="adj1" fmla="val 29544"/>
              <a:gd name="adj2" fmla="val 25000"/>
              <a:gd name="adj3" fmla="val 32951"/>
            </a:avLst>
          </a:prstGeom>
          <a:solidFill>
            <a:schemeClr val="accent1">
              <a:lumMod val="60000"/>
              <a:lumOff val="40000"/>
              <a:alpha val="89804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FE79080E-7A75-9317-F5D3-8675E0CE78D9}"/>
              </a:ext>
            </a:extLst>
          </p:cNvPr>
          <p:cNvSpPr txBox="1"/>
          <p:nvPr/>
        </p:nvSpPr>
        <p:spPr>
          <a:xfrm>
            <a:off x="7993129" y="2069164"/>
            <a:ext cx="78921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900" dirty="0">
                <a:solidFill>
                  <a:schemeClr val="bg1"/>
                </a:solidFill>
              </a:rPr>
              <a:t>- 17 lignes</a:t>
            </a:r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6B70E683-2DEF-5131-14FA-2A05D9DCADFB}"/>
              </a:ext>
            </a:extLst>
          </p:cNvPr>
          <p:cNvSpPr/>
          <p:nvPr/>
        </p:nvSpPr>
        <p:spPr>
          <a:xfrm>
            <a:off x="7726671" y="3562266"/>
            <a:ext cx="1734188" cy="1208182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i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DropNa</a:t>
            </a:r>
            <a:endParaRPr lang="fr-FR" sz="1200" b="1" i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fr-FR" sz="105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(1634 lignes)</a:t>
            </a:r>
          </a:p>
          <a:p>
            <a:pPr algn="ctr"/>
            <a:endParaRPr lang="fr-FR" sz="105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ctr"/>
            <a:r>
              <a:rPr lang="fr-FR" sz="1050" dirty="0">
                <a:solidFill>
                  <a:schemeClr val="accent6">
                    <a:lumMod val="75000"/>
                  </a:schemeClr>
                </a:solidFill>
              </a:rPr>
              <a:t>Supprimer les lignes avec des manques de données dans les colonnes restantes</a:t>
            </a:r>
            <a:endParaRPr lang="fr-FR" sz="105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44CBE100-85CF-5955-70F1-2E9DAA21FDA5}"/>
              </a:ext>
            </a:extLst>
          </p:cNvPr>
          <p:cNvSpPr/>
          <p:nvPr/>
        </p:nvSpPr>
        <p:spPr>
          <a:xfrm>
            <a:off x="1125518" y="3296626"/>
            <a:ext cx="2751219" cy="1739460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i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Outlier</a:t>
            </a:r>
            <a:r>
              <a:rPr lang="fr-FR" sz="1200" b="1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(analyse quantile)</a:t>
            </a:r>
          </a:p>
          <a:p>
            <a:pPr algn="ctr"/>
            <a:r>
              <a:rPr lang="fr-FR" sz="105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(1611 lignes)</a:t>
            </a:r>
          </a:p>
          <a:p>
            <a:pPr algn="ctr"/>
            <a:endParaRPr lang="fr-FR" sz="105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ctr"/>
            <a:r>
              <a:rPr lang="fr-FR" sz="1050" dirty="0">
                <a:solidFill>
                  <a:schemeClr val="accent6">
                    <a:lumMod val="75000"/>
                  </a:schemeClr>
                </a:solidFill>
              </a:rPr>
              <a:t>'</a:t>
            </a:r>
            <a:r>
              <a:rPr lang="fr-FR" sz="1050" dirty="0" err="1">
                <a:solidFill>
                  <a:schemeClr val="accent6">
                    <a:lumMod val="75000"/>
                  </a:schemeClr>
                </a:solidFill>
              </a:rPr>
              <a:t>YearBuilt</a:t>
            </a:r>
            <a:r>
              <a:rPr lang="fr-FR" sz="1050" dirty="0">
                <a:solidFill>
                  <a:schemeClr val="accent6">
                    <a:lumMod val="75000"/>
                  </a:schemeClr>
                </a:solidFill>
              </a:rPr>
              <a:t>',</a:t>
            </a:r>
          </a:p>
          <a:p>
            <a:pPr algn="ctr"/>
            <a:r>
              <a:rPr lang="fr-FR" sz="1050" dirty="0">
                <a:solidFill>
                  <a:schemeClr val="accent6">
                    <a:lumMod val="75000"/>
                  </a:schemeClr>
                </a:solidFill>
              </a:rPr>
              <a:t>'</a:t>
            </a:r>
            <a:r>
              <a:rPr lang="fr-FR" sz="1050" dirty="0" err="1">
                <a:solidFill>
                  <a:schemeClr val="accent6">
                    <a:lumMod val="75000"/>
                  </a:schemeClr>
                </a:solidFill>
              </a:rPr>
              <a:t>NumberofBuildings</a:t>
            </a:r>
            <a:r>
              <a:rPr lang="fr-FR" sz="1050" dirty="0">
                <a:solidFill>
                  <a:schemeClr val="accent6">
                    <a:lumMod val="75000"/>
                  </a:schemeClr>
                </a:solidFill>
              </a:rPr>
              <a:t>',</a:t>
            </a:r>
          </a:p>
          <a:p>
            <a:pPr algn="ctr"/>
            <a:r>
              <a:rPr lang="fr-FR" sz="1050" dirty="0">
                <a:solidFill>
                  <a:schemeClr val="accent6">
                    <a:lumMod val="75000"/>
                  </a:schemeClr>
                </a:solidFill>
              </a:rPr>
              <a:t>'</a:t>
            </a:r>
            <a:r>
              <a:rPr lang="fr-FR" sz="1050" dirty="0" err="1">
                <a:solidFill>
                  <a:schemeClr val="accent6">
                    <a:lumMod val="75000"/>
                  </a:schemeClr>
                </a:solidFill>
              </a:rPr>
              <a:t>NumberofFloors</a:t>
            </a:r>
            <a:r>
              <a:rPr lang="fr-FR" sz="1050" dirty="0">
                <a:solidFill>
                  <a:schemeClr val="accent6">
                    <a:lumMod val="75000"/>
                  </a:schemeClr>
                </a:solidFill>
              </a:rPr>
              <a:t>',</a:t>
            </a:r>
          </a:p>
          <a:p>
            <a:pPr algn="ctr"/>
            <a:r>
              <a:rPr lang="fr-FR" sz="1050" dirty="0">
                <a:solidFill>
                  <a:schemeClr val="accent6">
                    <a:lumMod val="75000"/>
                  </a:schemeClr>
                </a:solidFill>
              </a:rPr>
              <a:t>'</a:t>
            </a:r>
            <a:r>
              <a:rPr lang="fr-FR" sz="1050" dirty="0" err="1">
                <a:solidFill>
                  <a:schemeClr val="accent6">
                    <a:lumMod val="75000"/>
                  </a:schemeClr>
                </a:solidFill>
              </a:rPr>
              <a:t>PropertyGFABuilding</a:t>
            </a:r>
            <a:r>
              <a:rPr lang="fr-FR" sz="1050" dirty="0">
                <a:solidFill>
                  <a:schemeClr val="accent6">
                    <a:lumMod val="75000"/>
                  </a:schemeClr>
                </a:solidFill>
              </a:rPr>
              <a:t>(s)',</a:t>
            </a:r>
          </a:p>
          <a:p>
            <a:pPr algn="ctr"/>
            <a:r>
              <a:rPr lang="fr-FR" sz="1050" dirty="0">
                <a:solidFill>
                  <a:schemeClr val="accent6">
                    <a:lumMod val="75000"/>
                  </a:schemeClr>
                </a:solidFill>
              </a:rPr>
              <a:t>'</a:t>
            </a:r>
            <a:r>
              <a:rPr lang="fr-FR" sz="1050" dirty="0" err="1">
                <a:solidFill>
                  <a:schemeClr val="accent6">
                    <a:lumMod val="75000"/>
                  </a:schemeClr>
                </a:solidFill>
              </a:rPr>
              <a:t>LargestPropertyUseTypeGFA</a:t>
            </a:r>
            <a:r>
              <a:rPr lang="fr-FR" sz="1050" dirty="0">
                <a:solidFill>
                  <a:schemeClr val="accent6">
                    <a:lumMod val="75000"/>
                  </a:schemeClr>
                </a:solidFill>
              </a:rPr>
              <a:t>',</a:t>
            </a:r>
          </a:p>
          <a:p>
            <a:pPr algn="ctr"/>
            <a:r>
              <a:rPr lang="fr-FR" sz="1050" dirty="0">
                <a:solidFill>
                  <a:schemeClr val="accent6">
                    <a:lumMod val="75000"/>
                  </a:schemeClr>
                </a:solidFill>
              </a:rPr>
              <a:t>'</a:t>
            </a:r>
            <a:r>
              <a:rPr lang="fr-FR" sz="1050" dirty="0" err="1">
                <a:solidFill>
                  <a:schemeClr val="accent6">
                    <a:lumMod val="75000"/>
                  </a:schemeClr>
                </a:solidFill>
              </a:rPr>
              <a:t>TotalGHGEmissions</a:t>
            </a:r>
            <a:r>
              <a:rPr lang="fr-FR" sz="1050" dirty="0">
                <a:solidFill>
                  <a:schemeClr val="accent6">
                    <a:lumMod val="75000"/>
                  </a:schemeClr>
                </a:solidFill>
              </a:rPr>
              <a:t>',</a:t>
            </a:r>
          </a:p>
          <a:p>
            <a:pPr algn="ctr"/>
            <a:r>
              <a:rPr lang="fr-FR" sz="1050" dirty="0">
                <a:solidFill>
                  <a:schemeClr val="accent6">
                    <a:lumMod val="75000"/>
                  </a:schemeClr>
                </a:solidFill>
              </a:rPr>
              <a:t>'</a:t>
            </a:r>
            <a:r>
              <a:rPr lang="fr-FR" sz="1050" dirty="0" err="1">
                <a:solidFill>
                  <a:schemeClr val="accent6">
                    <a:lumMod val="75000"/>
                  </a:schemeClr>
                </a:solidFill>
              </a:rPr>
              <a:t>SiteEnergyUse</a:t>
            </a:r>
            <a:r>
              <a:rPr lang="fr-FR" sz="1050" dirty="0">
                <a:solidFill>
                  <a:schemeClr val="accent6">
                    <a:lumMod val="75000"/>
                  </a:schemeClr>
                </a:solidFill>
              </a:rPr>
              <a:t>(</a:t>
            </a:r>
            <a:r>
              <a:rPr lang="fr-FR" sz="1050" dirty="0" err="1">
                <a:solidFill>
                  <a:schemeClr val="accent6">
                    <a:lumMod val="75000"/>
                  </a:schemeClr>
                </a:solidFill>
              </a:rPr>
              <a:t>kBtu</a:t>
            </a:r>
            <a:r>
              <a:rPr lang="fr-FR" sz="1050" dirty="0">
                <a:solidFill>
                  <a:schemeClr val="accent6">
                    <a:lumMod val="75000"/>
                  </a:schemeClr>
                </a:solidFill>
              </a:rPr>
              <a:t>)'</a:t>
            </a:r>
            <a:endParaRPr lang="fr-FR" sz="105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3" name="Flèche : droite 12">
            <a:extLst>
              <a:ext uri="{FF2B5EF4-FFF2-40B4-BE49-F238E27FC236}">
                <a16:creationId xmlns:a16="http://schemas.microsoft.com/office/drawing/2014/main" id="{E8B228C5-317A-3B6C-0709-09BEB7D3ABDF}"/>
              </a:ext>
            </a:extLst>
          </p:cNvPr>
          <p:cNvSpPr/>
          <p:nvPr/>
        </p:nvSpPr>
        <p:spPr>
          <a:xfrm flipH="1">
            <a:off x="6760322" y="3928792"/>
            <a:ext cx="874825" cy="475129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900" dirty="0"/>
              <a:t>-20 lignes</a:t>
            </a:r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D56B729F-A82B-00E6-BE7B-C1B34650D8E9}"/>
              </a:ext>
            </a:extLst>
          </p:cNvPr>
          <p:cNvSpPr/>
          <p:nvPr/>
        </p:nvSpPr>
        <p:spPr>
          <a:xfrm>
            <a:off x="4934610" y="3562265"/>
            <a:ext cx="1734188" cy="1208182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Drop 0 sur cibles</a:t>
            </a:r>
          </a:p>
          <a:p>
            <a:pPr algn="ctr"/>
            <a:r>
              <a:rPr lang="fr-FR" sz="105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(1614 lignes)</a:t>
            </a:r>
          </a:p>
          <a:p>
            <a:pPr algn="ctr"/>
            <a:endParaRPr lang="fr-FR" sz="105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ctr"/>
            <a:r>
              <a:rPr lang="fr-FR" sz="1050" dirty="0">
                <a:solidFill>
                  <a:schemeClr val="accent6">
                    <a:lumMod val="75000"/>
                  </a:schemeClr>
                </a:solidFill>
              </a:rPr>
              <a:t>Supprime les lignes avec des valeurs négatives ou égal à 0 sur les colonnes cibles</a:t>
            </a:r>
          </a:p>
        </p:txBody>
      </p:sp>
      <p:sp>
        <p:nvSpPr>
          <p:cNvPr id="15" name="Flèche : droite 14">
            <a:extLst>
              <a:ext uri="{FF2B5EF4-FFF2-40B4-BE49-F238E27FC236}">
                <a16:creationId xmlns:a16="http://schemas.microsoft.com/office/drawing/2014/main" id="{9259940B-222D-01AA-49BD-BDD5B5D4D974}"/>
              </a:ext>
            </a:extLst>
          </p:cNvPr>
          <p:cNvSpPr/>
          <p:nvPr/>
        </p:nvSpPr>
        <p:spPr>
          <a:xfrm flipH="1">
            <a:off x="3968261" y="3928792"/>
            <a:ext cx="874825" cy="475129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900" dirty="0"/>
              <a:t>-3 lignes</a:t>
            </a:r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C5686FC3-EE39-DDB0-BF2B-9B7756E01132}"/>
              </a:ext>
            </a:extLst>
          </p:cNvPr>
          <p:cNvSpPr/>
          <p:nvPr/>
        </p:nvSpPr>
        <p:spPr>
          <a:xfrm>
            <a:off x="3478149" y="5344067"/>
            <a:ext cx="1980553" cy="1265737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i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Features</a:t>
            </a:r>
            <a:r>
              <a:rPr lang="fr-FR" sz="1200" b="1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engineering</a:t>
            </a:r>
          </a:p>
          <a:p>
            <a:pPr algn="ctr"/>
            <a:r>
              <a:rPr lang="fr-FR" sz="1200" b="1" i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Outlier</a:t>
            </a:r>
            <a:r>
              <a:rPr lang="fr-FR" sz="1200" b="1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(analyse quantile)</a:t>
            </a:r>
          </a:p>
          <a:p>
            <a:pPr algn="ctr"/>
            <a:r>
              <a:rPr lang="fr-FR" sz="105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(1000 lignes)</a:t>
            </a:r>
          </a:p>
          <a:p>
            <a:pPr algn="ctr"/>
            <a:endParaRPr lang="fr-FR" sz="105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ctr"/>
            <a:r>
              <a:rPr lang="fr-FR" sz="1050" dirty="0">
                <a:solidFill>
                  <a:schemeClr val="accent6">
                    <a:lumMod val="75000"/>
                  </a:schemeClr>
                </a:solidFill>
              </a:rPr>
              <a:t>Création des nouvelles </a:t>
            </a:r>
            <a:r>
              <a:rPr lang="fr-FR" sz="1050" dirty="0" err="1">
                <a:solidFill>
                  <a:schemeClr val="accent6">
                    <a:lumMod val="75000"/>
                  </a:schemeClr>
                </a:solidFill>
              </a:rPr>
              <a:t>features</a:t>
            </a:r>
            <a:r>
              <a:rPr lang="fr-FR" sz="1050" dirty="0">
                <a:solidFill>
                  <a:schemeClr val="accent6">
                    <a:lumMod val="75000"/>
                  </a:schemeClr>
                </a:solidFill>
              </a:rPr>
              <a:t> puis suppression des </a:t>
            </a:r>
            <a:r>
              <a:rPr lang="fr-FR" sz="1050" dirty="0" err="1">
                <a:solidFill>
                  <a:schemeClr val="accent6">
                    <a:lumMod val="75000"/>
                  </a:schemeClr>
                </a:solidFill>
              </a:rPr>
              <a:t>outliers</a:t>
            </a:r>
            <a:r>
              <a:rPr lang="fr-FR" sz="1050" dirty="0">
                <a:solidFill>
                  <a:schemeClr val="accent6">
                    <a:lumMod val="75000"/>
                  </a:schemeClr>
                </a:solidFill>
              </a:rPr>
              <a:t> sur ces </a:t>
            </a:r>
            <a:r>
              <a:rPr lang="fr-FR" sz="1050" dirty="0" err="1">
                <a:solidFill>
                  <a:schemeClr val="accent6">
                    <a:lumMod val="75000"/>
                  </a:schemeClr>
                </a:solidFill>
              </a:rPr>
              <a:t>features</a:t>
            </a:r>
            <a:endParaRPr lang="fr-FR" sz="105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7" name="Flèche : angle droit 16">
            <a:extLst>
              <a:ext uri="{FF2B5EF4-FFF2-40B4-BE49-F238E27FC236}">
                <a16:creationId xmlns:a16="http://schemas.microsoft.com/office/drawing/2014/main" id="{F0046A1B-DB16-32C9-DD2F-23CA4E0FD427}"/>
              </a:ext>
            </a:extLst>
          </p:cNvPr>
          <p:cNvSpPr/>
          <p:nvPr/>
        </p:nvSpPr>
        <p:spPr>
          <a:xfrm rot="5400000">
            <a:off x="2318937" y="5197760"/>
            <a:ext cx="1071111" cy="954717"/>
          </a:xfrm>
          <a:prstGeom prst="bentUpArrow">
            <a:avLst>
              <a:gd name="adj1" fmla="val 22971"/>
              <a:gd name="adj2" fmla="val 25000"/>
              <a:gd name="adj3" fmla="val 27317"/>
            </a:avLst>
          </a:prstGeom>
          <a:solidFill>
            <a:schemeClr val="accent1">
              <a:lumMod val="60000"/>
              <a:lumOff val="40000"/>
              <a:alpha val="89804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31A91BCD-9222-A434-5418-EBDF5AC93ACC}"/>
              </a:ext>
            </a:extLst>
          </p:cNvPr>
          <p:cNvSpPr txBox="1"/>
          <p:nvPr/>
        </p:nvSpPr>
        <p:spPr>
          <a:xfrm>
            <a:off x="2436868" y="5861520"/>
            <a:ext cx="78921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900" dirty="0">
                <a:solidFill>
                  <a:schemeClr val="bg1"/>
                </a:solidFill>
              </a:rPr>
              <a:t>- 611 lignes</a:t>
            </a:r>
          </a:p>
        </p:txBody>
      </p:sp>
      <p:sp>
        <p:nvSpPr>
          <p:cNvPr id="19" name="Flèche : droite 18">
            <a:extLst>
              <a:ext uri="{FF2B5EF4-FFF2-40B4-BE49-F238E27FC236}">
                <a16:creationId xmlns:a16="http://schemas.microsoft.com/office/drawing/2014/main" id="{CFCF7947-A1D5-0DDC-5356-183C29ECF7B9}"/>
              </a:ext>
            </a:extLst>
          </p:cNvPr>
          <p:cNvSpPr/>
          <p:nvPr/>
        </p:nvSpPr>
        <p:spPr>
          <a:xfrm>
            <a:off x="5621802" y="5739370"/>
            <a:ext cx="874825" cy="475129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900" dirty="0"/>
              <a:t>-300 lignes</a:t>
            </a:r>
          </a:p>
        </p:txBody>
      </p:sp>
      <p:sp>
        <p:nvSpPr>
          <p:cNvPr id="20" name="Rectangle : coins arrondis 19">
            <a:extLst>
              <a:ext uri="{FF2B5EF4-FFF2-40B4-BE49-F238E27FC236}">
                <a16:creationId xmlns:a16="http://schemas.microsoft.com/office/drawing/2014/main" id="{D93E9A12-C386-BA0C-0254-8248F914827D}"/>
              </a:ext>
            </a:extLst>
          </p:cNvPr>
          <p:cNvSpPr/>
          <p:nvPr/>
        </p:nvSpPr>
        <p:spPr>
          <a:xfrm>
            <a:off x="6668798" y="5344067"/>
            <a:ext cx="1980553" cy="1265737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i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Dataframe</a:t>
            </a:r>
            <a:r>
              <a:rPr lang="fr-FR" sz="1200" b="1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final</a:t>
            </a:r>
          </a:p>
          <a:p>
            <a:pPr algn="ctr"/>
            <a:r>
              <a:rPr lang="fr-FR" sz="105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(700 lignes)</a:t>
            </a:r>
          </a:p>
          <a:p>
            <a:pPr algn="ctr"/>
            <a:endParaRPr lang="fr-FR" sz="105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ctr"/>
            <a:r>
              <a:rPr lang="fr-FR" sz="1050" dirty="0">
                <a:solidFill>
                  <a:schemeClr val="tx1"/>
                </a:solidFill>
              </a:rPr>
              <a:t>Données nettoyées prêts à être ingérer par un modèle supervisé</a:t>
            </a:r>
          </a:p>
        </p:txBody>
      </p:sp>
    </p:spTree>
    <p:extLst>
      <p:ext uri="{BB962C8B-B14F-4D97-AF65-F5344CB8AC3E}">
        <p14:creationId xmlns:p14="http://schemas.microsoft.com/office/powerpoint/2010/main" val="40721746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/>
      <p:bldP spid="10" grpId="0" animBg="1"/>
      <p:bldP spid="11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/>
      <p:bldP spid="19" grpId="0" animBg="1"/>
      <p:bldP spid="2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4;p13">
            <a:extLst>
              <a:ext uri="{FF2B5EF4-FFF2-40B4-BE49-F238E27FC236}">
                <a16:creationId xmlns:a16="http://schemas.microsoft.com/office/drawing/2014/main" id="{4929BE14-2D96-DE8C-28E4-E741465F9E8A}"/>
              </a:ext>
            </a:extLst>
          </p:cNvPr>
          <p:cNvSpPr txBox="1">
            <a:spLocks/>
          </p:cNvSpPr>
          <p:nvPr/>
        </p:nvSpPr>
        <p:spPr>
          <a:xfrm>
            <a:off x="152139" y="136524"/>
            <a:ext cx="9574568" cy="163848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fr-FR" sz="36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Enrichissement du jeu de données avec du « </a:t>
            </a:r>
            <a:r>
              <a:rPr lang="fr-FR" sz="3600" b="1" dirty="0" err="1">
                <a:solidFill>
                  <a:schemeClr val="accent4">
                    <a:lumMod val="20000"/>
                    <a:lumOff val="80000"/>
                  </a:schemeClr>
                </a:solidFill>
              </a:rPr>
              <a:t>Feature</a:t>
            </a:r>
            <a:r>
              <a:rPr lang="fr-FR" sz="36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 engineering » pour améliorer les performances du modèle</a:t>
            </a:r>
          </a:p>
        </p:txBody>
      </p:sp>
      <p:graphicFrame>
        <p:nvGraphicFramePr>
          <p:cNvPr id="3" name="Tableau 2">
            <a:extLst>
              <a:ext uri="{FF2B5EF4-FFF2-40B4-BE49-F238E27FC236}">
                <a16:creationId xmlns:a16="http://schemas.microsoft.com/office/drawing/2014/main" id="{1B1ECF10-5026-A40D-9BE7-1D341F0712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1257329"/>
              </p:ext>
            </p:extLst>
          </p:nvPr>
        </p:nvGraphicFramePr>
        <p:xfrm>
          <a:off x="319601" y="1924237"/>
          <a:ext cx="9147128" cy="4797237"/>
        </p:xfrm>
        <a:graphic>
          <a:graphicData uri="http://schemas.openxmlformats.org/drawingml/2006/table">
            <a:tbl>
              <a:tblPr>
                <a:tableStyleId>{D7AC3CCA-C797-4891-BE02-D94E43425B78}</a:tableStyleId>
              </a:tblPr>
              <a:tblGrid>
                <a:gridCol w="2286782">
                  <a:extLst>
                    <a:ext uri="{9D8B030D-6E8A-4147-A177-3AD203B41FA5}">
                      <a16:colId xmlns:a16="http://schemas.microsoft.com/office/drawing/2014/main" val="1688301668"/>
                    </a:ext>
                  </a:extLst>
                </a:gridCol>
                <a:gridCol w="2286782">
                  <a:extLst>
                    <a:ext uri="{9D8B030D-6E8A-4147-A177-3AD203B41FA5}">
                      <a16:colId xmlns:a16="http://schemas.microsoft.com/office/drawing/2014/main" val="360949636"/>
                    </a:ext>
                  </a:extLst>
                </a:gridCol>
                <a:gridCol w="2286782">
                  <a:extLst>
                    <a:ext uri="{9D8B030D-6E8A-4147-A177-3AD203B41FA5}">
                      <a16:colId xmlns:a16="http://schemas.microsoft.com/office/drawing/2014/main" val="2028310866"/>
                    </a:ext>
                  </a:extLst>
                </a:gridCol>
                <a:gridCol w="2286782">
                  <a:extLst>
                    <a:ext uri="{9D8B030D-6E8A-4147-A177-3AD203B41FA5}">
                      <a16:colId xmlns:a16="http://schemas.microsoft.com/office/drawing/2014/main" val="3754336338"/>
                    </a:ext>
                  </a:extLst>
                </a:gridCol>
              </a:tblGrid>
              <a:tr h="22575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100" b="1" i="1"/>
                        <a:t>Variable créée</a:t>
                      </a:r>
                    </a:p>
                  </a:txBody>
                  <a:tcPr marL="51192" marR="51192" marT="25596" marB="25596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100" b="1" i="1"/>
                        <a:t>Description</a:t>
                      </a:r>
                    </a:p>
                  </a:txBody>
                  <a:tcPr marL="51192" marR="51192" marT="25596" marB="25596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100" b="1" i="1"/>
                        <a:t>Méthode</a:t>
                      </a:r>
                    </a:p>
                  </a:txBody>
                  <a:tcPr marL="51192" marR="51192" marT="25596" marB="25596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100" b="1" i="1" dirty="0"/>
                        <a:t>Intérêt</a:t>
                      </a:r>
                    </a:p>
                  </a:txBody>
                  <a:tcPr marL="51192" marR="51192" marT="25596" marB="25596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7960419"/>
                  </a:ext>
                </a:extLst>
              </a:tr>
              <a:tr h="9030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 b="1"/>
                        <a:t>NumberOfPropertyUseTypes</a:t>
                      </a:r>
                      <a:endParaRPr lang="fr-FR" sz="1000"/>
                    </a:p>
                  </a:txBody>
                  <a:tcPr marL="51192" marR="51192" marT="25596" marB="255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/>
                        <a:t>Nombre de types d’usage différents dans un bâtiment (ex : bureau, commerce).</a:t>
                      </a:r>
                    </a:p>
                  </a:txBody>
                  <a:tcPr marL="51192" marR="51192" marT="25596" marB="255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 dirty="0"/>
                        <a:t>Compte le nombre d’usage dans </a:t>
                      </a:r>
                      <a:r>
                        <a:rPr lang="fr-FR" sz="1000" dirty="0" err="1"/>
                        <a:t>ListOfAllPropertyUseTypes</a:t>
                      </a:r>
                      <a:endParaRPr lang="fr-FR" sz="1000" dirty="0"/>
                    </a:p>
                  </a:txBody>
                  <a:tcPr marL="51192" marR="51192" marT="25596" marB="255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 dirty="0"/>
                        <a:t>Identifier les bâtiments avec plusieurs types d’usages.</a:t>
                      </a:r>
                    </a:p>
                  </a:txBody>
                  <a:tcPr marL="51192" marR="51192" marT="25596" marB="25596" anchor="ctr"/>
                </a:tc>
                <a:extLst>
                  <a:ext uri="{0D108BD9-81ED-4DB2-BD59-A6C34878D82A}">
                    <a16:rowId xmlns:a16="http://schemas.microsoft.com/office/drawing/2014/main" val="207524244"/>
                  </a:ext>
                </a:extLst>
              </a:tr>
              <a:tr h="7336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 b="1"/>
                        <a:t>BuildingAge</a:t>
                      </a:r>
                      <a:endParaRPr lang="fr-FR" sz="1000"/>
                    </a:p>
                  </a:txBody>
                  <a:tcPr marL="51192" marR="51192" marT="25596" marB="25596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 dirty="0"/>
                        <a:t>Âge du bâtiment</a:t>
                      </a:r>
                    </a:p>
                  </a:txBody>
                  <a:tcPr marL="51192" marR="51192" marT="25596" marB="25596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/>
                        <a:t>Soustraction : DataYear – YearBuilt.</a:t>
                      </a:r>
                    </a:p>
                  </a:txBody>
                  <a:tcPr marL="51192" marR="51192" marT="25596" marB="25596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 dirty="0"/>
                        <a:t>Analyser l’impact de l’ancienneté sur la consommation énergétique.</a:t>
                      </a:r>
                    </a:p>
                  </a:txBody>
                  <a:tcPr marL="51192" marR="51192" marT="25596" marB="25596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8889002"/>
                  </a:ext>
                </a:extLst>
              </a:tr>
              <a:tr h="7336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 b="1"/>
                        <a:t>Age_x_Size</a:t>
                      </a:r>
                      <a:endParaRPr lang="fr-FR" sz="1000"/>
                    </a:p>
                  </a:txBody>
                  <a:tcPr marL="51192" marR="51192" marT="25596" marB="255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/>
                        <a:t>Interaction entre l’âge et la surface du bâtiment.</a:t>
                      </a:r>
                    </a:p>
                  </a:txBody>
                  <a:tcPr marL="51192" marR="51192" marT="25596" marB="255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/>
                        <a:t>Multiplication : BuildingAge × PropertyGFABuilding(s).</a:t>
                      </a:r>
                    </a:p>
                  </a:txBody>
                  <a:tcPr marL="51192" marR="51192" marT="25596" marB="255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/>
                        <a:t>Tester l’hypothèse : "grands et anciens = plus énergivores".</a:t>
                      </a:r>
                    </a:p>
                  </a:txBody>
                  <a:tcPr marL="51192" marR="51192" marT="25596" marB="25596" anchor="ctr"/>
                </a:tc>
                <a:extLst>
                  <a:ext uri="{0D108BD9-81ED-4DB2-BD59-A6C34878D82A}">
                    <a16:rowId xmlns:a16="http://schemas.microsoft.com/office/drawing/2014/main" val="990068799"/>
                  </a:ext>
                </a:extLst>
              </a:tr>
              <a:tr h="7336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 b="1"/>
                        <a:t>Floor_density</a:t>
                      </a:r>
                      <a:endParaRPr lang="fr-FR" sz="1000"/>
                    </a:p>
                  </a:txBody>
                  <a:tcPr marL="51192" marR="51192" marT="25596" marB="25596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/>
                        <a:t>Surface moyenne par étage.</a:t>
                      </a:r>
                    </a:p>
                  </a:txBody>
                  <a:tcPr marL="51192" marR="51192" marT="25596" marB="25596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/>
                        <a:t>Division : PropertyGFABuilding(s) / NumberofFloors.</a:t>
                      </a:r>
                    </a:p>
                  </a:txBody>
                  <a:tcPr marL="51192" marR="51192" marT="25596" marB="25596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 dirty="0"/>
                        <a:t>Évaluer si la densité verticale influence la consommation.</a:t>
                      </a:r>
                    </a:p>
                  </a:txBody>
                  <a:tcPr marL="51192" marR="51192" marT="25596" marB="25596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3997582"/>
                  </a:ext>
                </a:extLst>
              </a:tr>
              <a:tr h="7336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 b="1"/>
                        <a:t>size_x_type_mean</a:t>
                      </a:r>
                      <a:endParaRPr lang="fr-FR" sz="1000"/>
                    </a:p>
                  </a:txBody>
                  <a:tcPr marL="51192" marR="51192" marT="25596" marB="255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/>
                        <a:t>Surface du bâtiment comparée à la moyenne de son type d’usage.</a:t>
                      </a:r>
                    </a:p>
                  </a:txBody>
                  <a:tcPr marL="51192" marR="51192" marT="25596" marB="255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/>
                        <a:t>Calcul de la moyenne par LargestPropertyUseType, puis mapping sur chaque bâtiment.</a:t>
                      </a:r>
                    </a:p>
                  </a:txBody>
                  <a:tcPr marL="51192" marR="51192" marT="25596" marB="255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/>
                        <a:t>Contextualiser la taille du bâtiment par rapport à sa catégorie.</a:t>
                      </a:r>
                    </a:p>
                  </a:txBody>
                  <a:tcPr marL="51192" marR="51192" marT="25596" marB="25596" anchor="ctr"/>
                </a:tc>
                <a:extLst>
                  <a:ext uri="{0D108BD9-81ED-4DB2-BD59-A6C34878D82A}">
                    <a16:rowId xmlns:a16="http://schemas.microsoft.com/office/drawing/2014/main" val="735488444"/>
                  </a:ext>
                </a:extLst>
              </a:tr>
              <a:tr h="7336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 b="1" dirty="0" err="1"/>
                        <a:t>One-Hot</a:t>
                      </a:r>
                      <a:r>
                        <a:rPr lang="fr-FR" sz="1000" b="1" dirty="0"/>
                        <a:t> </a:t>
                      </a:r>
                      <a:r>
                        <a:rPr lang="fr-FR" sz="1000" b="1" dirty="0" err="1"/>
                        <a:t>Encoding</a:t>
                      </a:r>
                      <a:endParaRPr lang="fr-FR" sz="1000" dirty="0"/>
                    </a:p>
                  </a:txBody>
                  <a:tcPr marL="51192" marR="51192" marT="25596" marB="25596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/>
                        <a:t>Colonnes binaires pour chaque type de bâtiment (PrimaryPropertyType).</a:t>
                      </a:r>
                    </a:p>
                  </a:txBody>
                  <a:tcPr marL="51192" marR="51192" marT="25596" marB="25596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 dirty="0"/>
                        <a:t>Fonction pandas : </a:t>
                      </a:r>
                      <a:r>
                        <a:rPr lang="fr-FR" sz="1000" dirty="0" err="1"/>
                        <a:t>pd.get_dummies</a:t>
                      </a:r>
                      <a:r>
                        <a:rPr lang="fr-FR" sz="1000" dirty="0"/>
                        <a:t>() sur </a:t>
                      </a:r>
                      <a:r>
                        <a:rPr lang="fr-FR" sz="1000" dirty="0" err="1"/>
                        <a:t>PrimaryPropertyType</a:t>
                      </a:r>
                      <a:r>
                        <a:rPr lang="fr-FR" sz="1000" dirty="0"/>
                        <a:t>.</a:t>
                      </a:r>
                    </a:p>
                  </a:txBody>
                  <a:tcPr marL="51192" marR="51192" marT="25596" marB="25596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 dirty="0"/>
                        <a:t>Faciliter l’interprétation des catégories par les modèles de machine </a:t>
                      </a:r>
                      <a:r>
                        <a:rPr lang="fr-FR" sz="1000" dirty="0" err="1"/>
                        <a:t>learning</a:t>
                      </a:r>
                      <a:r>
                        <a:rPr lang="fr-FR" sz="1000" dirty="0"/>
                        <a:t>.</a:t>
                      </a:r>
                    </a:p>
                  </a:txBody>
                  <a:tcPr marL="51192" marR="51192" marT="25596" marB="25596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30360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899699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4;p13">
            <a:extLst>
              <a:ext uri="{FF2B5EF4-FFF2-40B4-BE49-F238E27FC236}">
                <a16:creationId xmlns:a16="http://schemas.microsoft.com/office/drawing/2014/main" id="{FB69485F-DD4E-C450-90B8-5242B433FF0F}"/>
              </a:ext>
            </a:extLst>
          </p:cNvPr>
          <p:cNvSpPr txBox="1">
            <a:spLocks/>
          </p:cNvSpPr>
          <p:nvPr/>
        </p:nvSpPr>
        <p:spPr>
          <a:xfrm>
            <a:off x="152139" y="136524"/>
            <a:ext cx="9574568" cy="11902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fr-FR" sz="3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Choix d’un </a:t>
            </a:r>
            <a:r>
              <a:rPr lang="fr-FR" sz="3200" b="1" dirty="0" err="1">
                <a:solidFill>
                  <a:schemeClr val="accent4">
                    <a:lumMod val="20000"/>
                    <a:lumOff val="80000"/>
                  </a:schemeClr>
                </a:solidFill>
              </a:rPr>
              <a:t>Random</a:t>
            </a:r>
            <a:r>
              <a:rPr lang="fr-FR" sz="3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 Forest comme modèle supervisé pour la prédiction de consommation d’énergie</a:t>
            </a:r>
          </a:p>
        </p:txBody>
      </p:sp>
      <p:graphicFrame>
        <p:nvGraphicFramePr>
          <p:cNvPr id="3" name="Tableau 2">
            <a:extLst>
              <a:ext uri="{FF2B5EF4-FFF2-40B4-BE49-F238E27FC236}">
                <a16:creationId xmlns:a16="http://schemas.microsoft.com/office/drawing/2014/main" id="{23D67E30-EEC9-EC5B-B23B-828838CA6E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3000930"/>
              </p:ext>
            </p:extLst>
          </p:nvPr>
        </p:nvGraphicFramePr>
        <p:xfrm>
          <a:off x="250751" y="1434351"/>
          <a:ext cx="8776708" cy="2635625"/>
        </p:xfrm>
        <a:graphic>
          <a:graphicData uri="http://schemas.openxmlformats.org/drawingml/2006/table">
            <a:tbl>
              <a:tblPr>
                <a:tableStyleId>{D7AC3CCA-C797-4891-BE02-D94E43425B78}</a:tableStyleId>
              </a:tblPr>
              <a:tblGrid>
                <a:gridCol w="2194177">
                  <a:extLst>
                    <a:ext uri="{9D8B030D-6E8A-4147-A177-3AD203B41FA5}">
                      <a16:colId xmlns:a16="http://schemas.microsoft.com/office/drawing/2014/main" val="3029648212"/>
                    </a:ext>
                  </a:extLst>
                </a:gridCol>
                <a:gridCol w="2194177">
                  <a:extLst>
                    <a:ext uri="{9D8B030D-6E8A-4147-A177-3AD203B41FA5}">
                      <a16:colId xmlns:a16="http://schemas.microsoft.com/office/drawing/2014/main" val="2656075044"/>
                    </a:ext>
                  </a:extLst>
                </a:gridCol>
                <a:gridCol w="2194177">
                  <a:extLst>
                    <a:ext uri="{9D8B030D-6E8A-4147-A177-3AD203B41FA5}">
                      <a16:colId xmlns:a16="http://schemas.microsoft.com/office/drawing/2014/main" val="1771559441"/>
                    </a:ext>
                  </a:extLst>
                </a:gridCol>
                <a:gridCol w="2194177">
                  <a:extLst>
                    <a:ext uri="{9D8B030D-6E8A-4147-A177-3AD203B41FA5}">
                      <a16:colId xmlns:a16="http://schemas.microsoft.com/office/drawing/2014/main" val="3472143320"/>
                    </a:ext>
                  </a:extLst>
                </a:gridCol>
              </a:tblGrid>
              <a:tr h="34175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000" b="1" i="1"/>
                        <a:t>Modèle</a:t>
                      </a:r>
                    </a:p>
                  </a:txBody>
                  <a:tcPr marL="88803" marR="88803" marT="44401" marB="44401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000" b="1" i="1" dirty="0"/>
                        <a:t>Fonctionnement</a:t>
                      </a:r>
                    </a:p>
                  </a:txBody>
                  <a:tcPr marL="88803" marR="88803" marT="44401" marB="44401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000" b="1" i="1"/>
                        <a:t>Résultats</a:t>
                      </a:r>
                    </a:p>
                  </a:txBody>
                  <a:tcPr marL="88803" marR="88803" marT="44401" marB="44401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000" b="1" i="1" dirty="0"/>
                        <a:t>Interprétation</a:t>
                      </a:r>
                    </a:p>
                  </a:txBody>
                  <a:tcPr marL="88803" marR="88803" marT="44401" marB="44401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9855320"/>
                  </a:ext>
                </a:extLst>
              </a:tr>
              <a:tr h="6085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 b="1"/>
                        <a:t>Régression linéaire</a:t>
                      </a:r>
                      <a:endParaRPr lang="fr-FR" sz="1000"/>
                    </a:p>
                  </a:txBody>
                  <a:tcPr marL="88803" marR="88803" marT="44401" marB="444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/>
                        <a:t>Modèle simple qui suppose une relation linéaire entre les variables explicatives et la cible.</a:t>
                      </a:r>
                    </a:p>
                  </a:txBody>
                  <a:tcPr marL="88803" marR="88803" marT="44401" marB="444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 dirty="0"/>
                        <a:t>R² : </a:t>
                      </a:r>
                      <a:r>
                        <a:rPr lang="pt-BR" sz="1000" b="1" dirty="0"/>
                        <a:t>0.28</a:t>
                      </a:r>
                    </a:p>
                    <a:p>
                      <a:pPr>
                        <a:buNone/>
                      </a:pPr>
                      <a:r>
                        <a:rPr lang="pt-BR" sz="1000" dirty="0"/>
                        <a:t>RMSE : </a:t>
                      </a:r>
                      <a:r>
                        <a:rPr lang="pt-BR" sz="1000" b="1" dirty="0"/>
                        <a:t>0.60</a:t>
                      </a:r>
                    </a:p>
                    <a:p>
                      <a:pPr>
                        <a:buNone/>
                      </a:pPr>
                      <a:r>
                        <a:rPr lang="pt-BR" sz="1000" dirty="0"/>
                        <a:t>MAE : </a:t>
                      </a:r>
                      <a:r>
                        <a:rPr lang="pt-BR" sz="1000" b="1" dirty="0"/>
                        <a:t>0.45</a:t>
                      </a:r>
                      <a:endParaRPr lang="pt-BR" sz="1000" dirty="0"/>
                    </a:p>
                  </a:txBody>
                  <a:tcPr marL="88803" marR="88803" marT="44401" marB="444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 dirty="0"/>
                        <a:t>Performances modestes, adapté si la relation est linéaire.</a:t>
                      </a:r>
                    </a:p>
                  </a:txBody>
                  <a:tcPr marL="88803" marR="88803" marT="44401" marB="44401" anchor="ctr"/>
                </a:tc>
                <a:extLst>
                  <a:ext uri="{0D108BD9-81ED-4DB2-BD59-A6C34878D82A}">
                    <a16:rowId xmlns:a16="http://schemas.microsoft.com/office/drawing/2014/main" val="1637594122"/>
                  </a:ext>
                </a:extLst>
              </a:tr>
              <a:tr h="9233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 b="1"/>
                        <a:t>Random Forest</a:t>
                      </a:r>
                      <a:endParaRPr lang="fr-FR" sz="1000"/>
                    </a:p>
                  </a:txBody>
                  <a:tcPr marL="88803" marR="88803" marT="44401" marB="44401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/>
                        <a:t>Ensemble d’arbres de décision qui agrègent leurs prédictions pour réduire l’erreur (méthode d’ensemble).</a:t>
                      </a:r>
                    </a:p>
                  </a:txBody>
                  <a:tcPr marL="88803" marR="88803" marT="44401" marB="44401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 dirty="0"/>
                        <a:t>R² : </a:t>
                      </a:r>
                      <a:r>
                        <a:rPr lang="pt-BR" sz="1000" b="1" dirty="0"/>
                        <a:t>0.28</a:t>
                      </a:r>
                    </a:p>
                    <a:p>
                      <a:pPr>
                        <a:buNone/>
                      </a:pPr>
                      <a:r>
                        <a:rPr lang="pt-BR" sz="1000" dirty="0"/>
                        <a:t>RMSE : </a:t>
                      </a:r>
                      <a:r>
                        <a:rPr lang="pt-BR" sz="1000" b="1" dirty="0"/>
                        <a:t>0.60</a:t>
                      </a:r>
                    </a:p>
                    <a:p>
                      <a:pPr>
                        <a:buNone/>
                      </a:pPr>
                      <a:r>
                        <a:rPr lang="pt-BR" sz="1000" dirty="0"/>
                        <a:t>MAE : </a:t>
                      </a:r>
                      <a:r>
                        <a:rPr lang="pt-BR" sz="1000" b="1" dirty="0"/>
                        <a:t>0.44</a:t>
                      </a:r>
                    </a:p>
                  </a:txBody>
                  <a:tcPr marL="88803" marR="88803" marT="44401" marB="44401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 dirty="0"/>
                        <a:t>Légèrement meilleur que la régression linéaire, robuste aux </a:t>
                      </a:r>
                      <a:r>
                        <a:rPr lang="fr-FR" sz="1000" dirty="0" err="1"/>
                        <a:t>outliers</a:t>
                      </a:r>
                      <a:r>
                        <a:rPr lang="fr-FR" sz="1000" dirty="0"/>
                        <a:t>.</a:t>
                      </a:r>
                    </a:p>
                  </a:txBody>
                  <a:tcPr marL="88803" marR="88803" marT="44401" marB="44401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764892"/>
                  </a:ext>
                </a:extLst>
              </a:tr>
              <a:tr h="7620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 b="1"/>
                        <a:t>XGBoost</a:t>
                      </a:r>
                      <a:endParaRPr lang="fr-FR" sz="1000"/>
                    </a:p>
                  </a:txBody>
                  <a:tcPr marL="88803" marR="88803" marT="44401" marB="444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/>
                        <a:t>Version optimisée du gradient boosting : combine des arbres faibles pour corriger les erreurs.</a:t>
                      </a:r>
                    </a:p>
                  </a:txBody>
                  <a:tcPr marL="88803" marR="88803" marT="44401" marB="444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 dirty="0"/>
                        <a:t>R² : </a:t>
                      </a:r>
                      <a:r>
                        <a:rPr lang="pt-BR" sz="1000" b="1" dirty="0"/>
                        <a:t>0.25</a:t>
                      </a:r>
                    </a:p>
                    <a:p>
                      <a:pPr>
                        <a:buNone/>
                      </a:pPr>
                      <a:r>
                        <a:rPr lang="pt-BR" sz="1000" dirty="0"/>
                        <a:t>MAE : </a:t>
                      </a:r>
                      <a:r>
                        <a:rPr lang="pt-BR" sz="1000" b="1" dirty="0"/>
                        <a:t>0.46</a:t>
                      </a:r>
                      <a:endParaRPr lang="pt-BR" sz="1000" dirty="0"/>
                    </a:p>
                  </a:txBody>
                  <a:tcPr marL="88803" marR="88803" marT="44401" marB="444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 dirty="0"/>
                        <a:t>Résultats inférieurs aux autres modèles.</a:t>
                      </a:r>
                    </a:p>
                  </a:txBody>
                  <a:tcPr marL="88803" marR="88803" marT="44401" marB="44401" anchor="ctr"/>
                </a:tc>
                <a:extLst>
                  <a:ext uri="{0D108BD9-81ED-4DB2-BD59-A6C34878D82A}">
                    <a16:rowId xmlns:a16="http://schemas.microsoft.com/office/drawing/2014/main" val="3360291697"/>
                  </a:ext>
                </a:extLst>
              </a:tr>
            </a:tbl>
          </a:graphicData>
        </a:graphic>
      </p:graphicFrame>
      <p:sp>
        <p:nvSpPr>
          <p:cNvPr id="5" name="ZoneTexte 4">
            <a:extLst>
              <a:ext uri="{FF2B5EF4-FFF2-40B4-BE49-F238E27FC236}">
                <a16:creationId xmlns:a16="http://schemas.microsoft.com/office/drawing/2014/main" id="{3D77C704-DF6A-785B-C88B-AE3AFFFDD754}"/>
              </a:ext>
            </a:extLst>
          </p:cNvPr>
          <p:cNvSpPr txBox="1"/>
          <p:nvPr/>
        </p:nvSpPr>
        <p:spPr>
          <a:xfrm>
            <a:off x="250752" y="4177551"/>
            <a:ext cx="877670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b="1" dirty="0">
                <a:solidFill>
                  <a:schemeClr val="bg1">
                    <a:lumMod val="85000"/>
                  </a:schemeClr>
                </a:solidFill>
              </a:rPr>
              <a:t>RMSE</a:t>
            </a:r>
            <a:r>
              <a:rPr lang="fr-FR" sz="1200" dirty="0">
                <a:solidFill>
                  <a:schemeClr val="bg1">
                    <a:lumMod val="85000"/>
                  </a:schemeClr>
                </a:solidFill>
              </a:rPr>
              <a:t> : mesure l’écart moyen entre les valeurs prédites par le modèle et les valeurs réelles, indique la capacité du modèle à se tromper</a:t>
            </a:r>
          </a:p>
          <a:p>
            <a:endParaRPr lang="fr-FR" sz="800" dirty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fr-FR" sz="1200" b="1" dirty="0">
                <a:solidFill>
                  <a:schemeClr val="bg1">
                    <a:lumMod val="85000"/>
                  </a:schemeClr>
                </a:solidFill>
              </a:rPr>
              <a:t>MAE</a:t>
            </a:r>
            <a:r>
              <a:rPr lang="fr-FR" sz="1200" dirty="0">
                <a:solidFill>
                  <a:schemeClr val="bg1">
                    <a:lumMod val="85000"/>
                  </a:schemeClr>
                </a:solidFill>
              </a:rPr>
              <a:t> (</a:t>
            </a:r>
            <a:r>
              <a:rPr lang="fr-FR" sz="1200" dirty="0" err="1">
                <a:solidFill>
                  <a:schemeClr val="bg1">
                    <a:lumMod val="85000"/>
                  </a:schemeClr>
                </a:solidFill>
              </a:rPr>
              <a:t>Mean</a:t>
            </a:r>
            <a:r>
              <a:rPr lang="fr-FR" sz="12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fr-FR" sz="1200" dirty="0" err="1">
                <a:solidFill>
                  <a:schemeClr val="bg1">
                    <a:lumMod val="85000"/>
                  </a:schemeClr>
                </a:solidFill>
              </a:rPr>
              <a:t>Absolute</a:t>
            </a:r>
            <a:r>
              <a:rPr lang="fr-FR" sz="12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fr-FR" sz="1200" dirty="0" err="1">
                <a:solidFill>
                  <a:schemeClr val="bg1">
                    <a:lumMod val="85000"/>
                  </a:schemeClr>
                </a:solidFill>
              </a:rPr>
              <a:t>Error</a:t>
            </a:r>
            <a:r>
              <a:rPr lang="fr-FR" sz="1200" dirty="0">
                <a:solidFill>
                  <a:schemeClr val="bg1">
                    <a:lumMod val="85000"/>
                  </a:schemeClr>
                </a:solidFill>
              </a:rPr>
              <a:t>) : métrique qui mesure l’erreur moyenne entre les valeurs prédites et les valeurs réelles, en prenant la valeur 		absolue de l’erreur.</a:t>
            </a:r>
          </a:p>
        </p:txBody>
      </p:sp>
      <p:sp>
        <p:nvSpPr>
          <p:cNvPr id="6" name="Flèche : droite 5">
            <a:extLst>
              <a:ext uri="{FF2B5EF4-FFF2-40B4-BE49-F238E27FC236}">
                <a16:creationId xmlns:a16="http://schemas.microsoft.com/office/drawing/2014/main" id="{E5997171-B325-A180-099F-42FDBBB5B1AA}"/>
              </a:ext>
            </a:extLst>
          </p:cNvPr>
          <p:cNvSpPr/>
          <p:nvPr/>
        </p:nvSpPr>
        <p:spPr>
          <a:xfrm>
            <a:off x="2169849" y="5835713"/>
            <a:ext cx="546588" cy="232466"/>
          </a:xfrm>
          <a:prstGeom prst="rightArrow">
            <a:avLst>
              <a:gd name="adj1" fmla="val 69231"/>
              <a:gd name="adj2" fmla="val 50000"/>
            </a:avLst>
          </a:prstGeom>
          <a:solidFill>
            <a:schemeClr val="accent4">
              <a:lumMod val="60000"/>
              <a:lumOff val="40000"/>
              <a:alpha val="89804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200" dirty="0">
              <a:solidFill>
                <a:schemeClr val="tx1"/>
              </a:solidFill>
            </a:endParaRPr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28E1E393-60EE-44EE-C4E3-DCEDA7A76F4E}"/>
              </a:ext>
            </a:extLst>
          </p:cNvPr>
          <p:cNvSpPr/>
          <p:nvPr/>
        </p:nvSpPr>
        <p:spPr>
          <a:xfrm>
            <a:off x="2877672" y="5485784"/>
            <a:ext cx="2097741" cy="932329"/>
          </a:xfrm>
          <a:prstGeom prst="roundRect">
            <a:avLst/>
          </a:prstGeom>
          <a:solidFill>
            <a:schemeClr val="accent2">
              <a:lumMod val="40000"/>
              <a:lumOff val="60000"/>
              <a:alpha val="89804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tx1"/>
                </a:solidFill>
              </a:rPr>
              <a:t>Nombre d’arbres</a:t>
            </a:r>
          </a:p>
          <a:p>
            <a:pPr algn="ctr"/>
            <a:r>
              <a:rPr lang="fr-FR" sz="1200" dirty="0">
                <a:solidFill>
                  <a:schemeClr val="tx1"/>
                </a:solidFill>
              </a:rPr>
              <a:t>Profondeur max. par arbre</a:t>
            </a:r>
          </a:p>
          <a:p>
            <a:pPr algn="ctr"/>
            <a:r>
              <a:rPr lang="fr-FR" sz="1200" dirty="0">
                <a:solidFill>
                  <a:schemeClr val="tx1"/>
                </a:solidFill>
              </a:rPr>
              <a:t>Nombre min. d’observations</a:t>
            </a:r>
          </a:p>
          <a:p>
            <a:pPr algn="ctr"/>
            <a:r>
              <a:rPr lang="fr-FR" sz="1200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A48FEFB4-6713-CA62-FC06-FC88915B6BBB}"/>
              </a:ext>
            </a:extLst>
          </p:cNvPr>
          <p:cNvSpPr txBox="1"/>
          <p:nvPr/>
        </p:nvSpPr>
        <p:spPr>
          <a:xfrm>
            <a:off x="2859612" y="5116452"/>
            <a:ext cx="20977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chemeClr val="bg1"/>
                </a:solidFill>
              </a:rPr>
              <a:t>Hyperparamètres</a:t>
            </a:r>
          </a:p>
        </p:txBody>
      </p:sp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E140BD5F-CAC7-75A0-E6C3-82E5924BB2AA}"/>
              </a:ext>
            </a:extLst>
          </p:cNvPr>
          <p:cNvSpPr/>
          <p:nvPr/>
        </p:nvSpPr>
        <p:spPr>
          <a:xfrm>
            <a:off x="5844471" y="5646837"/>
            <a:ext cx="1470215" cy="610217"/>
          </a:xfrm>
          <a:prstGeom prst="roundRect">
            <a:avLst/>
          </a:prstGeom>
          <a:solidFill>
            <a:schemeClr val="accent2">
              <a:lumMod val="40000"/>
              <a:lumOff val="60000"/>
              <a:alpha val="89804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tx1"/>
                </a:solidFill>
              </a:rPr>
              <a:t>108 combinaisons possible testées</a:t>
            </a:r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D5B3FB37-5849-7158-3827-5EDD3456713C}"/>
              </a:ext>
            </a:extLst>
          </p:cNvPr>
          <p:cNvSpPr/>
          <p:nvPr/>
        </p:nvSpPr>
        <p:spPr>
          <a:xfrm>
            <a:off x="214762" y="5566309"/>
            <a:ext cx="1775273" cy="771274"/>
          </a:xfrm>
          <a:prstGeom prst="roundRect">
            <a:avLst/>
          </a:prstGeom>
          <a:solidFill>
            <a:schemeClr val="accent4">
              <a:lumMod val="40000"/>
              <a:lumOff val="60000"/>
              <a:alpha val="89804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tx1"/>
                </a:solidFill>
              </a:rPr>
              <a:t>Optimisation des hyperparamètres avec </a:t>
            </a:r>
            <a:r>
              <a:rPr lang="fr-FR" sz="1200" dirty="0" err="1">
                <a:solidFill>
                  <a:schemeClr val="tx1"/>
                </a:solidFill>
              </a:rPr>
              <a:t>GridSearch</a:t>
            </a:r>
            <a:endParaRPr lang="fr-FR" sz="1200" dirty="0">
              <a:solidFill>
                <a:schemeClr val="tx1"/>
              </a:solidFill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4996C387-38AF-D9DB-9B39-7B9EB1C1CE72}"/>
              </a:ext>
            </a:extLst>
          </p:cNvPr>
          <p:cNvSpPr txBox="1"/>
          <p:nvPr/>
        </p:nvSpPr>
        <p:spPr>
          <a:xfrm>
            <a:off x="214762" y="5196977"/>
            <a:ext cx="1775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err="1">
                <a:solidFill>
                  <a:schemeClr val="bg1"/>
                </a:solidFill>
              </a:rPr>
              <a:t>GridSearch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12" name="Flèche : droite 11">
            <a:extLst>
              <a:ext uri="{FF2B5EF4-FFF2-40B4-BE49-F238E27FC236}">
                <a16:creationId xmlns:a16="http://schemas.microsoft.com/office/drawing/2014/main" id="{87501462-4E6E-D139-1F07-B39F258F8E47}"/>
              </a:ext>
            </a:extLst>
          </p:cNvPr>
          <p:cNvSpPr/>
          <p:nvPr/>
        </p:nvSpPr>
        <p:spPr>
          <a:xfrm>
            <a:off x="5136648" y="5835713"/>
            <a:ext cx="546588" cy="232466"/>
          </a:xfrm>
          <a:prstGeom prst="rightArrow">
            <a:avLst>
              <a:gd name="adj1" fmla="val 69231"/>
              <a:gd name="adj2" fmla="val 50000"/>
            </a:avLst>
          </a:prstGeom>
          <a:solidFill>
            <a:schemeClr val="accent4">
              <a:lumMod val="60000"/>
              <a:lumOff val="40000"/>
              <a:alpha val="89804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200" dirty="0">
              <a:solidFill>
                <a:schemeClr val="tx1"/>
              </a:solidFill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72186F58-30F0-32A5-E0AE-59D61A77666A}"/>
              </a:ext>
            </a:extLst>
          </p:cNvPr>
          <p:cNvSpPr txBox="1"/>
          <p:nvPr/>
        </p:nvSpPr>
        <p:spPr>
          <a:xfrm>
            <a:off x="5808871" y="5277505"/>
            <a:ext cx="15414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chemeClr val="bg1"/>
                </a:solidFill>
              </a:rPr>
              <a:t>Combinaisons</a:t>
            </a:r>
          </a:p>
        </p:txBody>
      </p:sp>
      <p:sp>
        <p:nvSpPr>
          <p:cNvPr id="14" name="Flèche : droite 13">
            <a:extLst>
              <a:ext uri="{FF2B5EF4-FFF2-40B4-BE49-F238E27FC236}">
                <a16:creationId xmlns:a16="http://schemas.microsoft.com/office/drawing/2014/main" id="{614F4F3C-7B2F-93F2-478D-74182182EFAF}"/>
              </a:ext>
            </a:extLst>
          </p:cNvPr>
          <p:cNvSpPr/>
          <p:nvPr/>
        </p:nvSpPr>
        <p:spPr>
          <a:xfrm>
            <a:off x="7475921" y="5835713"/>
            <a:ext cx="546588" cy="232466"/>
          </a:xfrm>
          <a:prstGeom prst="rightArrow">
            <a:avLst>
              <a:gd name="adj1" fmla="val 69231"/>
              <a:gd name="adj2" fmla="val 50000"/>
            </a:avLst>
          </a:prstGeom>
          <a:solidFill>
            <a:schemeClr val="accent4">
              <a:lumMod val="60000"/>
              <a:lumOff val="40000"/>
              <a:alpha val="89804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200" dirty="0">
              <a:solidFill>
                <a:schemeClr val="tx1"/>
              </a:solidFill>
            </a:endParaRPr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EBAD8E22-005D-52DE-748F-A37FBEFF7B22}"/>
              </a:ext>
            </a:extLst>
          </p:cNvPr>
          <p:cNvSpPr/>
          <p:nvPr/>
        </p:nvSpPr>
        <p:spPr>
          <a:xfrm>
            <a:off x="8183742" y="5646836"/>
            <a:ext cx="1470215" cy="610217"/>
          </a:xfrm>
          <a:prstGeom prst="roundRect">
            <a:avLst/>
          </a:prstGeom>
          <a:solidFill>
            <a:schemeClr val="accent6">
              <a:lumMod val="60000"/>
              <a:lumOff val="40000"/>
              <a:alpha val="89804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tx1"/>
                </a:solidFill>
              </a:rPr>
              <a:t>Gain de + 3,7%</a:t>
            </a:r>
          </a:p>
          <a:p>
            <a:pPr algn="ctr"/>
            <a:r>
              <a:rPr lang="fr-FR" sz="1200" dirty="0">
                <a:solidFill>
                  <a:schemeClr val="tx1"/>
                </a:solidFill>
              </a:rPr>
              <a:t>R2 = 0,32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2FA84957-29D6-206A-BD52-72CBAAD4B22A}"/>
              </a:ext>
            </a:extLst>
          </p:cNvPr>
          <p:cNvSpPr txBox="1"/>
          <p:nvPr/>
        </p:nvSpPr>
        <p:spPr>
          <a:xfrm>
            <a:off x="8183742" y="5277505"/>
            <a:ext cx="14262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err="1">
                <a:solidFill>
                  <a:schemeClr val="bg1"/>
                </a:solidFill>
              </a:rPr>
              <a:t>Résutat</a:t>
            </a:r>
            <a:endParaRPr lang="fr-FR" dirty="0">
              <a:solidFill>
                <a:schemeClr val="bg1"/>
              </a:solidFill>
            </a:endParaRPr>
          </a:p>
        </p:txBody>
      </p:sp>
      <p:pic>
        <p:nvPicPr>
          <p:cNvPr id="17" name="Image 16">
            <a:extLst>
              <a:ext uri="{FF2B5EF4-FFF2-40B4-BE49-F238E27FC236}">
                <a16:creationId xmlns:a16="http://schemas.microsoft.com/office/drawing/2014/main" id="{7A8420DA-143F-44A3-6192-988188F0A0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522" y="1211163"/>
            <a:ext cx="9070866" cy="5394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32653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  <p:bldP spid="7" grpId="0" animBg="1"/>
      <p:bldP spid="8" grpId="0"/>
      <p:bldP spid="9" grpId="0" animBg="1"/>
      <p:bldP spid="10" grpId="0" animBg="1"/>
      <p:bldP spid="11" grpId="0"/>
      <p:bldP spid="12" grpId="0" animBg="1"/>
      <p:bldP spid="13" grpId="0"/>
      <p:bldP spid="14" grpId="0" animBg="1"/>
      <p:bldP spid="15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A68B76-7347-4BBE-B4B7-724D42B741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4;p13">
            <a:extLst>
              <a:ext uri="{FF2B5EF4-FFF2-40B4-BE49-F238E27FC236}">
                <a16:creationId xmlns:a16="http://schemas.microsoft.com/office/drawing/2014/main" id="{0435C054-D4C8-8B36-2EED-63B08A768FD8}"/>
              </a:ext>
            </a:extLst>
          </p:cNvPr>
          <p:cNvSpPr txBox="1">
            <a:spLocks/>
          </p:cNvSpPr>
          <p:nvPr/>
        </p:nvSpPr>
        <p:spPr>
          <a:xfrm>
            <a:off x="152139" y="136524"/>
            <a:ext cx="9574568" cy="11902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fr-FR" sz="3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Choix d’un </a:t>
            </a:r>
            <a:r>
              <a:rPr lang="fr-FR" sz="3200" b="1" dirty="0" err="1">
                <a:solidFill>
                  <a:schemeClr val="accent4">
                    <a:lumMod val="20000"/>
                    <a:lumOff val="80000"/>
                  </a:schemeClr>
                </a:solidFill>
              </a:rPr>
              <a:t>Random</a:t>
            </a:r>
            <a:r>
              <a:rPr lang="fr-FR" sz="32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 Forest comme modèle supervisé pour la prédiction d’émission en CO2</a:t>
            </a:r>
          </a:p>
        </p:txBody>
      </p:sp>
      <p:graphicFrame>
        <p:nvGraphicFramePr>
          <p:cNvPr id="3" name="Tableau 2">
            <a:extLst>
              <a:ext uri="{FF2B5EF4-FFF2-40B4-BE49-F238E27FC236}">
                <a16:creationId xmlns:a16="http://schemas.microsoft.com/office/drawing/2014/main" id="{5A68D516-5250-5435-B449-7F38A83FF1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54822"/>
              </p:ext>
            </p:extLst>
          </p:nvPr>
        </p:nvGraphicFramePr>
        <p:xfrm>
          <a:off x="250751" y="1954305"/>
          <a:ext cx="8776708" cy="2635625"/>
        </p:xfrm>
        <a:graphic>
          <a:graphicData uri="http://schemas.openxmlformats.org/drawingml/2006/table">
            <a:tbl>
              <a:tblPr>
                <a:tableStyleId>{D7AC3CCA-C797-4891-BE02-D94E43425B78}</a:tableStyleId>
              </a:tblPr>
              <a:tblGrid>
                <a:gridCol w="2194177">
                  <a:extLst>
                    <a:ext uri="{9D8B030D-6E8A-4147-A177-3AD203B41FA5}">
                      <a16:colId xmlns:a16="http://schemas.microsoft.com/office/drawing/2014/main" val="3029648212"/>
                    </a:ext>
                  </a:extLst>
                </a:gridCol>
                <a:gridCol w="2194177">
                  <a:extLst>
                    <a:ext uri="{9D8B030D-6E8A-4147-A177-3AD203B41FA5}">
                      <a16:colId xmlns:a16="http://schemas.microsoft.com/office/drawing/2014/main" val="2656075044"/>
                    </a:ext>
                  </a:extLst>
                </a:gridCol>
                <a:gridCol w="2194177">
                  <a:extLst>
                    <a:ext uri="{9D8B030D-6E8A-4147-A177-3AD203B41FA5}">
                      <a16:colId xmlns:a16="http://schemas.microsoft.com/office/drawing/2014/main" val="1771559441"/>
                    </a:ext>
                  </a:extLst>
                </a:gridCol>
                <a:gridCol w="2194177">
                  <a:extLst>
                    <a:ext uri="{9D8B030D-6E8A-4147-A177-3AD203B41FA5}">
                      <a16:colId xmlns:a16="http://schemas.microsoft.com/office/drawing/2014/main" val="3472143320"/>
                    </a:ext>
                  </a:extLst>
                </a:gridCol>
              </a:tblGrid>
              <a:tr h="34175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000" b="1" i="1"/>
                        <a:t>Modèle</a:t>
                      </a:r>
                    </a:p>
                  </a:txBody>
                  <a:tcPr marL="88803" marR="88803" marT="44401" marB="44401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000" b="1" i="1" dirty="0"/>
                        <a:t>Fonctionnement</a:t>
                      </a:r>
                    </a:p>
                  </a:txBody>
                  <a:tcPr marL="88803" marR="88803" marT="44401" marB="44401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000" b="1" i="1"/>
                        <a:t>Résultats</a:t>
                      </a:r>
                    </a:p>
                  </a:txBody>
                  <a:tcPr marL="88803" marR="88803" marT="44401" marB="44401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000" b="1" i="1" dirty="0"/>
                        <a:t>Interprétation</a:t>
                      </a:r>
                    </a:p>
                  </a:txBody>
                  <a:tcPr marL="88803" marR="88803" marT="44401" marB="44401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9855320"/>
                  </a:ext>
                </a:extLst>
              </a:tr>
              <a:tr h="6085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 b="1"/>
                        <a:t>Régression linéaire</a:t>
                      </a:r>
                      <a:endParaRPr lang="fr-FR" sz="1000"/>
                    </a:p>
                  </a:txBody>
                  <a:tcPr marL="88803" marR="88803" marT="44401" marB="444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/>
                        <a:t>Modèle simple qui suppose une relation linéaire entre les variables explicatives et la cible.</a:t>
                      </a:r>
                    </a:p>
                  </a:txBody>
                  <a:tcPr marL="88803" marR="88803" marT="44401" marB="444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 dirty="0"/>
                        <a:t>R² : </a:t>
                      </a:r>
                      <a:r>
                        <a:rPr lang="pt-BR" sz="1000" b="1" dirty="0"/>
                        <a:t>0.48</a:t>
                      </a:r>
                    </a:p>
                    <a:p>
                      <a:pPr>
                        <a:buNone/>
                      </a:pPr>
                      <a:r>
                        <a:rPr lang="pt-BR" sz="1000" dirty="0"/>
                        <a:t>RMSE : </a:t>
                      </a:r>
                      <a:r>
                        <a:rPr lang="pt-BR" sz="1000" b="1" dirty="0"/>
                        <a:t>18.5</a:t>
                      </a:r>
                    </a:p>
                    <a:p>
                      <a:pPr>
                        <a:buNone/>
                      </a:pPr>
                      <a:r>
                        <a:rPr lang="pt-BR" sz="1000" dirty="0"/>
                        <a:t>MAE : </a:t>
                      </a:r>
                      <a:r>
                        <a:rPr lang="pt-BR" sz="1000" b="1" dirty="0"/>
                        <a:t>14</a:t>
                      </a:r>
                      <a:endParaRPr lang="pt-BR" sz="1000" dirty="0"/>
                    </a:p>
                  </a:txBody>
                  <a:tcPr marL="88803" marR="88803" marT="44401" marB="444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 dirty="0"/>
                        <a:t>Performances correct, adapté si la relation est linéaire.</a:t>
                      </a:r>
                    </a:p>
                  </a:txBody>
                  <a:tcPr marL="88803" marR="88803" marT="44401" marB="44401" anchor="ctr"/>
                </a:tc>
                <a:extLst>
                  <a:ext uri="{0D108BD9-81ED-4DB2-BD59-A6C34878D82A}">
                    <a16:rowId xmlns:a16="http://schemas.microsoft.com/office/drawing/2014/main" val="1637594122"/>
                  </a:ext>
                </a:extLst>
              </a:tr>
              <a:tr h="9233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 b="1"/>
                        <a:t>Random Forest</a:t>
                      </a:r>
                      <a:endParaRPr lang="fr-FR" sz="1000"/>
                    </a:p>
                  </a:txBody>
                  <a:tcPr marL="88803" marR="88803" marT="44401" marB="44401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/>
                        <a:t>Ensemble d’arbres de décision qui agrègent leurs prédictions pour réduire l’erreur (méthode d’ensemble).</a:t>
                      </a:r>
                    </a:p>
                  </a:txBody>
                  <a:tcPr marL="88803" marR="88803" marT="44401" marB="44401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 dirty="0"/>
                        <a:t>R² : </a:t>
                      </a:r>
                      <a:r>
                        <a:rPr lang="pt-BR" sz="1000" b="1" dirty="0"/>
                        <a:t>0.52</a:t>
                      </a:r>
                    </a:p>
                    <a:p>
                      <a:pPr>
                        <a:buNone/>
                      </a:pPr>
                      <a:r>
                        <a:rPr lang="pt-BR" sz="1000" dirty="0"/>
                        <a:t>RMSE : </a:t>
                      </a:r>
                      <a:r>
                        <a:rPr lang="pt-BR" sz="1000" b="1" dirty="0"/>
                        <a:t>17.9</a:t>
                      </a:r>
                    </a:p>
                    <a:p>
                      <a:pPr>
                        <a:buNone/>
                      </a:pPr>
                      <a:r>
                        <a:rPr lang="pt-BR" sz="1000" dirty="0"/>
                        <a:t>MAE : </a:t>
                      </a:r>
                      <a:r>
                        <a:rPr lang="pt-BR" sz="1000" b="1" dirty="0"/>
                        <a:t>13.6</a:t>
                      </a:r>
                    </a:p>
                  </a:txBody>
                  <a:tcPr marL="88803" marR="88803" marT="44401" marB="44401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 dirty="0"/>
                        <a:t>Meilleur que la régression linéaire, robuste aux </a:t>
                      </a:r>
                      <a:r>
                        <a:rPr lang="fr-FR" sz="1000" dirty="0" err="1"/>
                        <a:t>outliers</a:t>
                      </a:r>
                      <a:r>
                        <a:rPr lang="fr-FR" sz="1000" dirty="0"/>
                        <a:t>.</a:t>
                      </a:r>
                    </a:p>
                  </a:txBody>
                  <a:tcPr marL="88803" marR="88803" marT="44401" marB="44401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764892"/>
                  </a:ext>
                </a:extLst>
              </a:tr>
              <a:tr h="7620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 b="1"/>
                        <a:t>XGBoost</a:t>
                      </a:r>
                      <a:endParaRPr lang="fr-FR" sz="1000"/>
                    </a:p>
                  </a:txBody>
                  <a:tcPr marL="88803" marR="88803" marT="44401" marB="444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/>
                        <a:t>Version optimisée du gradient boosting : combine des arbres faibles pour corriger les erreurs.</a:t>
                      </a:r>
                    </a:p>
                  </a:txBody>
                  <a:tcPr marL="88803" marR="88803" marT="44401" marB="444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 dirty="0"/>
                        <a:t>R² : </a:t>
                      </a:r>
                      <a:r>
                        <a:rPr lang="pt-BR" sz="1000" b="1" dirty="0"/>
                        <a:t>0.49</a:t>
                      </a:r>
                    </a:p>
                    <a:p>
                      <a:pPr>
                        <a:buNone/>
                      </a:pPr>
                      <a:r>
                        <a:rPr lang="pt-BR" sz="1000" dirty="0"/>
                        <a:t>MAE : </a:t>
                      </a:r>
                      <a:r>
                        <a:rPr lang="pt-BR" sz="1000" b="1" dirty="0"/>
                        <a:t>13.8</a:t>
                      </a:r>
                      <a:endParaRPr lang="pt-BR" sz="1000" dirty="0"/>
                    </a:p>
                  </a:txBody>
                  <a:tcPr marL="88803" marR="88803" marT="44401" marB="444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 dirty="0"/>
                        <a:t>Résultats inférieurs au </a:t>
                      </a:r>
                      <a:r>
                        <a:rPr lang="fr-FR" sz="1000" dirty="0" err="1"/>
                        <a:t>Random</a:t>
                      </a:r>
                      <a:r>
                        <a:rPr lang="fr-FR" sz="1000" dirty="0"/>
                        <a:t> Forest</a:t>
                      </a:r>
                    </a:p>
                  </a:txBody>
                  <a:tcPr marL="88803" marR="88803" marT="44401" marB="44401" anchor="ctr"/>
                </a:tc>
                <a:extLst>
                  <a:ext uri="{0D108BD9-81ED-4DB2-BD59-A6C34878D82A}">
                    <a16:rowId xmlns:a16="http://schemas.microsoft.com/office/drawing/2014/main" val="3360291697"/>
                  </a:ext>
                </a:extLst>
              </a:tr>
            </a:tbl>
          </a:graphicData>
        </a:graphic>
      </p:graphicFrame>
      <p:sp>
        <p:nvSpPr>
          <p:cNvPr id="5" name="ZoneTexte 4">
            <a:extLst>
              <a:ext uri="{FF2B5EF4-FFF2-40B4-BE49-F238E27FC236}">
                <a16:creationId xmlns:a16="http://schemas.microsoft.com/office/drawing/2014/main" id="{A01FE975-C337-B8ED-EAAE-7EF18ABE6DAC}"/>
              </a:ext>
            </a:extLst>
          </p:cNvPr>
          <p:cNvSpPr txBox="1"/>
          <p:nvPr/>
        </p:nvSpPr>
        <p:spPr>
          <a:xfrm>
            <a:off x="250752" y="4697505"/>
            <a:ext cx="877670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b="1" dirty="0">
                <a:solidFill>
                  <a:schemeClr val="bg1">
                    <a:lumMod val="85000"/>
                  </a:schemeClr>
                </a:solidFill>
              </a:rPr>
              <a:t>RMSE</a:t>
            </a:r>
            <a:r>
              <a:rPr lang="fr-FR" sz="1200" dirty="0">
                <a:solidFill>
                  <a:schemeClr val="bg1">
                    <a:lumMod val="85000"/>
                  </a:schemeClr>
                </a:solidFill>
              </a:rPr>
              <a:t> : mesure l’écart moyen entre les valeurs prédites par le modèle et les valeurs réelles, indique la capacité du modèle à se tromper</a:t>
            </a:r>
          </a:p>
          <a:p>
            <a:endParaRPr lang="fr-FR" sz="800" dirty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fr-FR" sz="1200" b="1" dirty="0">
                <a:solidFill>
                  <a:schemeClr val="bg1">
                    <a:lumMod val="85000"/>
                  </a:schemeClr>
                </a:solidFill>
              </a:rPr>
              <a:t>MAE</a:t>
            </a:r>
            <a:r>
              <a:rPr lang="fr-FR" sz="1200" dirty="0">
                <a:solidFill>
                  <a:schemeClr val="bg1">
                    <a:lumMod val="85000"/>
                  </a:schemeClr>
                </a:solidFill>
              </a:rPr>
              <a:t> (</a:t>
            </a:r>
            <a:r>
              <a:rPr lang="fr-FR" sz="1200" dirty="0" err="1">
                <a:solidFill>
                  <a:schemeClr val="bg1">
                    <a:lumMod val="85000"/>
                  </a:schemeClr>
                </a:solidFill>
              </a:rPr>
              <a:t>Mean</a:t>
            </a:r>
            <a:r>
              <a:rPr lang="fr-FR" sz="12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fr-FR" sz="1200" dirty="0" err="1">
                <a:solidFill>
                  <a:schemeClr val="bg1">
                    <a:lumMod val="85000"/>
                  </a:schemeClr>
                </a:solidFill>
              </a:rPr>
              <a:t>Absolute</a:t>
            </a:r>
            <a:r>
              <a:rPr lang="fr-FR" sz="12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fr-FR" sz="1200" dirty="0" err="1">
                <a:solidFill>
                  <a:schemeClr val="bg1">
                    <a:lumMod val="85000"/>
                  </a:schemeClr>
                </a:solidFill>
              </a:rPr>
              <a:t>Error</a:t>
            </a:r>
            <a:r>
              <a:rPr lang="fr-FR" sz="1200" dirty="0">
                <a:solidFill>
                  <a:schemeClr val="bg1">
                    <a:lumMod val="85000"/>
                  </a:schemeClr>
                </a:solidFill>
              </a:rPr>
              <a:t>) : métrique qui mesure l’erreur moyenne entre les valeurs prédites et les valeurs réelles, en prenant la valeur 		absolue de l’erreur.</a:t>
            </a:r>
          </a:p>
        </p:txBody>
      </p:sp>
      <p:sp>
        <p:nvSpPr>
          <p:cNvPr id="6" name="Flèche : droite 5">
            <a:extLst>
              <a:ext uri="{FF2B5EF4-FFF2-40B4-BE49-F238E27FC236}">
                <a16:creationId xmlns:a16="http://schemas.microsoft.com/office/drawing/2014/main" id="{080F34F8-2F57-32FC-4C7D-893D29806248}"/>
              </a:ext>
            </a:extLst>
          </p:cNvPr>
          <p:cNvSpPr/>
          <p:nvPr/>
        </p:nvSpPr>
        <p:spPr>
          <a:xfrm>
            <a:off x="2169849" y="6203267"/>
            <a:ext cx="546588" cy="232466"/>
          </a:xfrm>
          <a:prstGeom prst="rightArrow">
            <a:avLst>
              <a:gd name="adj1" fmla="val 69231"/>
              <a:gd name="adj2" fmla="val 50000"/>
            </a:avLst>
          </a:prstGeom>
          <a:solidFill>
            <a:schemeClr val="accent4">
              <a:lumMod val="60000"/>
              <a:lumOff val="40000"/>
              <a:alpha val="89804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200" dirty="0">
              <a:solidFill>
                <a:schemeClr val="tx1"/>
              </a:solidFill>
            </a:endParaRPr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F67FFDCC-AD28-A72E-1182-4ED5843A2477}"/>
              </a:ext>
            </a:extLst>
          </p:cNvPr>
          <p:cNvSpPr/>
          <p:nvPr/>
        </p:nvSpPr>
        <p:spPr>
          <a:xfrm>
            <a:off x="2877672" y="5853338"/>
            <a:ext cx="2097741" cy="932329"/>
          </a:xfrm>
          <a:prstGeom prst="roundRect">
            <a:avLst/>
          </a:prstGeom>
          <a:solidFill>
            <a:schemeClr val="accent2">
              <a:lumMod val="40000"/>
              <a:lumOff val="60000"/>
              <a:alpha val="89804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tx1"/>
                </a:solidFill>
              </a:rPr>
              <a:t>Nombre d’arbres</a:t>
            </a:r>
          </a:p>
          <a:p>
            <a:pPr algn="ctr"/>
            <a:r>
              <a:rPr lang="fr-FR" sz="1200" dirty="0">
                <a:solidFill>
                  <a:schemeClr val="tx1"/>
                </a:solidFill>
              </a:rPr>
              <a:t>Profondeur max. par arbre</a:t>
            </a:r>
          </a:p>
          <a:p>
            <a:pPr algn="ctr"/>
            <a:r>
              <a:rPr lang="fr-FR" sz="1200" dirty="0">
                <a:solidFill>
                  <a:schemeClr val="tx1"/>
                </a:solidFill>
              </a:rPr>
              <a:t>Nombre min. d’observations</a:t>
            </a:r>
          </a:p>
          <a:p>
            <a:pPr algn="ctr"/>
            <a:r>
              <a:rPr lang="fr-FR" sz="1200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E24C7A69-5E4D-FEF9-7252-2114D3B3B6C8}"/>
              </a:ext>
            </a:extLst>
          </p:cNvPr>
          <p:cNvSpPr txBox="1"/>
          <p:nvPr/>
        </p:nvSpPr>
        <p:spPr>
          <a:xfrm>
            <a:off x="2859612" y="5484006"/>
            <a:ext cx="20977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chemeClr val="bg1"/>
                </a:solidFill>
              </a:rPr>
              <a:t>Hyperparamètres</a:t>
            </a:r>
          </a:p>
        </p:txBody>
      </p:sp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E7C2E009-2060-C774-BACB-F39FD9318327}"/>
              </a:ext>
            </a:extLst>
          </p:cNvPr>
          <p:cNvSpPr/>
          <p:nvPr/>
        </p:nvSpPr>
        <p:spPr>
          <a:xfrm>
            <a:off x="5844471" y="6014391"/>
            <a:ext cx="1470215" cy="610217"/>
          </a:xfrm>
          <a:prstGeom prst="roundRect">
            <a:avLst/>
          </a:prstGeom>
          <a:solidFill>
            <a:schemeClr val="accent2">
              <a:lumMod val="40000"/>
              <a:lumOff val="60000"/>
              <a:alpha val="89804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tx1"/>
                </a:solidFill>
              </a:rPr>
              <a:t>108 combinaisons possible testées</a:t>
            </a:r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5A8B8817-59C1-9316-0077-0C06B97D1590}"/>
              </a:ext>
            </a:extLst>
          </p:cNvPr>
          <p:cNvSpPr/>
          <p:nvPr/>
        </p:nvSpPr>
        <p:spPr>
          <a:xfrm>
            <a:off x="214762" y="5933863"/>
            <a:ext cx="1775273" cy="771274"/>
          </a:xfrm>
          <a:prstGeom prst="roundRect">
            <a:avLst/>
          </a:prstGeom>
          <a:solidFill>
            <a:schemeClr val="accent4">
              <a:lumMod val="40000"/>
              <a:lumOff val="60000"/>
              <a:alpha val="89804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tx1"/>
                </a:solidFill>
              </a:rPr>
              <a:t>Optimisation des hyperparamètres avec </a:t>
            </a:r>
            <a:r>
              <a:rPr lang="fr-FR" sz="1200" dirty="0" err="1">
                <a:solidFill>
                  <a:schemeClr val="tx1"/>
                </a:solidFill>
              </a:rPr>
              <a:t>GridSearch</a:t>
            </a:r>
            <a:endParaRPr lang="fr-FR" sz="1200" dirty="0">
              <a:solidFill>
                <a:schemeClr val="tx1"/>
              </a:solidFill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CAB9F889-BCC4-A8F1-BA1C-FBAEA6613A1F}"/>
              </a:ext>
            </a:extLst>
          </p:cNvPr>
          <p:cNvSpPr txBox="1"/>
          <p:nvPr/>
        </p:nvSpPr>
        <p:spPr>
          <a:xfrm>
            <a:off x="214762" y="5564531"/>
            <a:ext cx="1775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err="1">
                <a:solidFill>
                  <a:schemeClr val="bg1"/>
                </a:solidFill>
              </a:rPr>
              <a:t>GridSearch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12" name="Flèche : droite 11">
            <a:extLst>
              <a:ext uri="{FF2B5EF4-FFF2-40B4-BE49-F238E27FC236}">
                <a16:creationId xmlns:a16="http://schemas.microsoft.com/office/drawing/2014/main" id="{6B409B02-BD0E-7CA7-870F-A8BBA67DC824}"/>
              </a:ext>
            </a:extLst>
          </p:cNvPr>
          <p:cNvSpPr/>
          <p:nvPr/>
        </p:nvSpPr>
        <p:spPr>
          <a:xfrm>
            <a:off x="5136648" y="6203267"/>
            <a:ext cx="546588" cy="232466"/>
          </a:xfrm>
          <a:prstGeom prst="rightArrow">
            <a:avLst>
              <a:gd name="adj1" fmla="val 69231"/>
              <a:gd name="adj2" fmla="val 50000"/>
            </a:avLst>
          </a:prstGeom>
          <a:solidFill>
            <a:schemeClr val="accent4">
              <a:lumMod val="60000"/>
              <a:lumOff val="40000"/>
              <a:alpha val="89804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200" dirty="0">
              <a:solidFill>
                <a:schemeClr val="tx1"/>
              </a:solidFill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5FB7CCAE-E1DE-C188-EAB8-D306125926FE}"/>
              </a:ext>
            </a:extLst>
          </p:cNvPr>
          <p:cNvSpPr txBox="1"/>
          <p:nvPr/>
        </p:nvSpPr>
        <p:spPr>
          <a:xfrm>
            <a:off x="5808871" y="5645059"/>
            <a:ext cx="15414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chemeClr val="bg1"/>
                </a:solidFill>
              </a:rPr>
              <a:t>Combinaisons</a:t>
            </a:r>
          </a:p>
        </p:txBody>
      </p:sp>
      <p:sp>
        <p:nvSpPr>
          <p:cNvPr id="14" name="Flèche : droite 13">
            <a:extLst>
              <a:ext uri="{FF2B5EF4-FFF2-40B4-BE49-F238E27FC236}">
                <a16:creationId xmlns:a16="http://schemas.microsoft.com/office/drawing/2014/main" id="{6EFF3877-DCB7-D3C3-BB1C-F3054A045CCE}"/>
              </a:ext>
            </a:extLst>
          </p:cNvPr>
          <p:cNvSpPr/>
          <p:nvPr/>
        </p:nvSpPr>
        <p:spPr>
          <a:xfrm>
            <a:off x="7475921" y="6203267"/>
            <a:ext cx="546588" cy="232466"/>
          </a:xfrm>
          <a:prstGeom prst="rightArrow">
            <a:avLst>
              <a:gd name="adj1" fmla="val 69231"/>
              <a:gd name="adj2" fmla="val 50000"/>
            </a:avLst>
          </a:prstGeom>
          <a:solidFill>
            <a:schemeClr val="accent4">
              <a:lumMod val="60000"/>
              <a:lumOff val="40000"/>
              <a:alpha val="89804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200" dirty="0">
              <a:solidFill>
                <a:schemeClr val="tx1"/>
              </a:solidFill>
            </a:endParaRPr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99CDF6F4-23AC-615E-36FB-9D0ACB45E8B1}"/>
              </a:ext>
            </a:extLst>
          </p:cNvPr>
          <p:cNvSpPr/>
          <p:nvPr/>
        </p:nvSpPr>
        <p:spPr>
          <a:xfrm>
            <a:off x="8183742" y="6014390"/>
            <a:ext cx="1470215" cy="610217"/>
          </a:xfrm>
          <a:prstGeom prst="roundRect">
            <a:avLst/>
          </a:prstGeom>
          <a:solidFill>
            <a:schemeClr val="accent6">
              <a:lumMod val="60000"/>
              <a:lumOff val="40000"/>
              <a:alpha val="89804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tx1"/>
                </a:solidFill>
              </a:rPr>
              <a:t>Gain de + 1%</a:t>
            </a:r>
          </a:p>
          <a:p>
            <a:pPr algn="ctr"/>
            <a:r>
              <a:rPr lang="fr-FR" sz="1200" dirty="0">
                <a:solidFill>
                  <a:schemeClr val="tx1"/>
                </a:solidFill>
              </a:rPr>
              <a:t>R2 = 0,53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561C861C-43F4-2BBA-2407-1404773D67C2}"/>
              </a:ext>
            </a:extLst>
          </p:cNvPr>
          <p:cNvSpPr txBox="1"/>
          <p:nvPr/>
        </p:nvSpPr>
        <p:spPr>
          <a:xfrm>
            <a:off x="8183742" y="5645059"/>
            <a:ext cx="14262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err="1">
                <a:solidFill>
                  <a:schemeClr val="bg1"/>
                </a:solidFill>
              </a:rPr>
              <a:t>Résutat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56932FBC-9F22-5539-D163-5E783C29CD8B}"/>
              </a:ext>
            </a:extLst>
          </p:cNvPr>
          <p:cNvSpPr/>
          <p:nvPr/>
        </p:nvSpPr>
        <p:spPr>
          <a:xfrm>
            <a:off x="466033" y="1267453"/>
            <a:ext cx="8346143" cy="439869"/>
          </a:xfrm>
          <a:prstGeom prst="roundRect">
            <a:avLst/>
          </a:prstGeom>
          <a:solidFill>
            <a:schemeClr val="accent2">
              <a:lumMod val="20000"/>
              <a:lumOff val="80000"/>
              <a:alpha val="89804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solidFill>
                  <a:srgbClr val="FF0000"/>
                </a:solidFill>
              </a:rPr>
              <a:t>Ajout de la valeur prédite '</a:t>
            </a:r>
            <a:r>
              <a:rPr lang="fr-FR" sz="1400" dirty="0" err="1">
                <a:solidFill>
                  <a:srgbClr val="FF0000"/>
                </a:solidFill>
              </a:rPr>
              <a:t>SiteEnergyUse</a:t>
            </a:r>
            <a:r>
              <a:rPr lang="fr-FR" sz="1400" dirty="0">
                <a:solidFill>
                  <a:srgbClr val="FF0000"/>
                </a:solidFill>
              </a:rPr>
              <a:t>(</a:t>
            </a:r>
            <a:r>
              <a:rPr lang="fr-FR" sz="1400" dirty="0" err="1">
                <a:solidFill>
                  <a:srgbClr val="FF0000"/>
                </a:solidFill>
              </a:rPr>
              <a:t>kBtu</a:t>
            </a:r>
            <a:r>
              <a:rPr lang="fr-FR" sz="1400" dirty="0">
                <a:solidFill>
                  <a:srgbClr val="FF0000"/>
                </a:solidFill>
              </a:rPr>
              <a:t>)’ depuis le modèle </a:t>
            </a:r>
            <a:r>
              <a:rPr lang="fr-FR" sz="1400" dirty="0" err="1">
                <a:solidFill>
                  <a:srgbClr val="FF0000"/>
                </a:solidFill>
              </a:rPr>
              <a:t>energy</a:t>
            </a:r>
            <a:r>
              <a:rPr lang="fr-FR" sz="1400" dirty="0">
                <a:solidFill>
                  <a:srgbClr val="FF0000"/>
                </a:solidFill>
              </a:rPr>
              <a:t> afin de maximiser la performance.</a:t>
            </a:r>
          </a:p>
        </p:txBody>
      </p:sp>
      <p:pic>
        <p:nvPicPr>
          <p:cNvPr id="18" name="Image 17">
            <a:extLst>
              <a:ext uri="{FF2B5EF4-FFF2-40B4-BE49-F238E27FC236}">
                <a16:creationId xmlns:a16="http://schemas.microsoft.com/office/drawing/2014/main" id="{133C7256-04B2-F8FD-1C89-813B3DE132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954" y="1229636"/>
            <a:ext cx="9043434" cy="5394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56108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  <p:bldP spid="7" grpId="0" animBg="1"/>
      <p:bldP spid="8" grpId="0"/>
      <p:bldP spid="9" grpId="0" animBg="1"/>
      <p:bldP spid="10" grpId="0" animBg="1"/>
      <p:bldP spid="11" grpId="0"/>
      <p:bldP spid="12" grpId="0" animBg="1"/>
      <p:bldP spid="13" grpId="0"/>
      <p:bldP spid="14" grpId="0" animBg="1"/>
      <p:bldP spid="15" grpId="0" animBg="1"/>
      <p:bldP spid="16" grpId="0"/>
      <p:bldP spid="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4;p13">
            <a:extLst>
              <a:ext uri="{FF2B5EF4-FFF2-40B4-BE49-F238E27FC236}">
                <a16:creationId xmlns:a16="http://schemas.microsoft.com/office/drawing/2014/main" id="{BF710E7B-AECF-C450-B123-E69A8A0F9941}"/>
              </a:ext>
            </a:extLst>
          </p:cNvPr>
          <p:cNvSpPr txBox="1">
            <a:spLocks/>
          </p:cNvSpPr>
          <p:nvPr/>
        </p:nvSpPr>
        <p:spPr>
          <a:xfrm>
            <a:off x="152139" y="136524"/>
            <a:ext cx="9574568" cy="11902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fr-FR" sz="36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Déploiement sur Cloud AWS pour une utilisation en libre service et en temps réel</a:t>
            </a:r>
          </a:p>
        </p:txBody>
      </p:sp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A689D318-B9A4-EA84-1CA6-441B5E73D19E}"/>
              </a:ext>
            </a:extLst>
          </p:cNvPr>
          <p:cNvSpPr/>
          <p:nvPr/>
        </p:nvSpPr>
        <p:spPr>
          <a:xfrm>
            <a:off x="286871" y="1539876"/>
            <a:ext cx="2142564" cy="995082"/>
          </a:xfrm>
          <a:prstGeom prst="roundRect">
            <a:avLst/>
          </a:prstGeom>
          <a:solidFill>
            <a:schemeClr val="accent1">
              <a:lumMod val="20000"/>
              <a:lumOff val="80000"/>
              <a:alpha val="89804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600" dirty="0">
                <a:solidFill>
                  <a:schemeClr val="tx1"/>
                </a:solidFill>
              </a:rPr>
              <a:t>1. Adaptation des modèles pour </a:t>
            </a:r>
            <a:r>
              <a:rPr lang="fr-FR" sz="1600" dirty="0" err="1">
                <a:solidFill>
                  <a:schemeClr val="tx1"/>
                </a:solidFill>
              </a:rPr>
              <a:t>BentoML</a:t>
            </a:r>
            <a:endParaRPr lang="fr-FR" sz="1600" dirty="0">
              <a:solidFill>
                <a:schemeClr val="tx1"/>
              </a:solidFill>
            </a:endParaRPr>
          </a:p>
        </p:txBody>
      </p:sp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E20784C2-A16C-F376-B3EA-C5E4D621E574}"/>
              </a:ext>
            </a:extLst>
          </p:cNvPr>
          <p:cNvSpPr/>
          <p:nvPr/>
        </p:nvSpPr>
        <p:spPr>
          <a:xfrm>
            <a:off x="3227294" y="1559579"/>
            <a:ext cx="1972236" cy="385109"/>
          </a:xfrm>
          <a:prstGeom prst="roundRect">
            <a:avLst/>
          </a:prstGeom>
          <a:solidFill>
            <a:schemeClr val="accent2">
              <a:lumMod val="20000"/>
              <a:lumOff val="80000"/>
              <a:alpha val="89804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solidFill>
                  <a:schemeClr val="tx1"/>
                </a:solidFill>
              </a:rPr>
              <a:t>train_and_save.py</a:t>
            </a:r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EED5EC7F-31BD-7EC0-2C36-F20775537EB6}"/>
              </a:ext>
            </a:extLst>
          </p:cNvPr>
          <p:cNvSpPr/>
          <p:nvPr/>
        </p:nvSpPr>
        <p:spPr>
          <a:xfrm>
            <a:off x="286871" y="3016158"/>
            <a:ext cx="2142564" cy="995082"/>
          </a:xfrm>
          <a:prstGeom prst="roundRect">
            <a:avLst/>
          </a:prstGeom>
          <a:solidFill>
            <a:schemeClr val="accent1">
              <a:lumMod val="20000"/>
              <a:lumOff val="80000"/>
              <a:alpha val="89804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600" dirty="0">
                <a:solidFill>
                  <a:schemeClr val="tx1"/>
                </a:solidFill>
              </a:rPr>
              <a:t>2. Conteneurisation</a:t>
            </a: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B6619944-50B5-8DAB-6A22-B347E4AE4D56}"/>
              </a:ext>
            </a:extLst>
          </p:cNvPr>
          <p:cNvSpPr/>
          <p:nvPr/>
        </p:nvSpPr>
        <p:spPr>
          <a:xfrm>
            <a:off x="3536576" y="2106053"/>
            <a:ext cx="1353671" cy="385108"/>
          </a:xfrm>
          <a:prstGeom prst="roundRect">
            <a:avLst/>
          </a:prstGeom>
          <a:solidFill>
            <a:schemeClr val="accent4">
              <a:lumMod val="20000"/>
              <a:lumOff val="80000"/>
              <a:alpha val="89804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solidFill>
                  <a:schemeClr val="tx1"/>
                </a:solidFill>
              </a:rPr>
              <a:t>service.py</a:t>
            </a:r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84591326-8131-7168-3613-2AE2908BA792}"/>
              </a:ext>
            </a:extLst>
          </p:cNvPr>
          <p:cNvSpPr/>
          <p:nvPr/>
        </p:nvSpPr>
        <p:spPr>
          <a:xfrm>
            <a:off x="5827060" y="1515784"/>
            <a:ext cx="2537011" cy="472701"/>
          </a:xfrm>
          <a:prstGeom prst="roundRect">
            <a:avLst/>
          </a:prstGeom>
          <a:solidFill>
            <a:schemeClr val="accent2">
              <a:lumMod val="20000"/>
              <a:lumOff val="80000"/>
              <a:alpha val="89804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fr-FR" sz="1200" dirty="0">
                <a:solidFill>
                  <a:schemeClr val="tx1"/>
                </a:solidFill>
              </a:rPr>
              <a:t>Entraînement </a:t>
            </a:r>
            <a:r>
              <a:rPr lang="fr-FR" sz="1200" dirty="0" err="1">
                <a:solidFill>
                  <a:schemeClr val="tx1"/>
                </a:solidFill>
              </a:rPr>
              <a:t>sklearn</a:t>
            </a:r>
            <a:r>
              <a:rPr lang="fr-FR" sz="1200" dirty="0">
                <a:solidFill>
                  <a:schemeClr val="tx1"/>
                </a:solidFill>
              </a:rPr>
              <a:t> et </a:t>
            </a:r>
            <a:r>
              <a:rPr lang="fr-FR" sz="1200" dirty="0" err="1">
                <a:solidFill>
                  <a:schemeClr val="tx1"/>
                </a:solidFill>
              </a:rPr>
              <a:t>save</a:t>
            </a:r>
            <a:r>
              <a:rPr lang="fr-FR" sz="1200" dirty="0">
                <a:solidFill>
                  <a:schemeClr val="tx1"/>
                </a:solidFill>
              </a:rPr>
              <a:t> des modèles dans le store </a:t>
            </a:r>
            <a:r>
              <a:rPr lang="fr-FR" sz="1200" dirty="0" err="1">
                <a:solidFill>
                  <a:schemeClr val="tx1"/>
                </a:solidFill>
              </a:rPr>
              <a:t>BentoML</a:t>
            </a:r>
            <a:endParaRPr lang="fr-FR" sz="1200" dirty="0">
              <a:solidFill>
                <a:schemeClr val="tx1"/>
              </a:solidFill>
            </a:endParaRPr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00148AB5-730D-80DB-2C95-D339CE8EBD1D}"/>
              </a:ext>
            </a:extLst>
          </p:cNvPr>
          <p:cNvSpPr/>
          <p:nvPr/>
        </p:nvSpPr>
        <p:spPr>
          <a:xfrm>
            <a:off x="5827060" y="2062257"/>
            <a:ext cx="2429434" cy="472701"/>
          </a:xfrm>
          <a:prstGeom prst="roundRect">
            <a:avLst/>
          </a:prstGeom>
          <a:solidFill>
            <a:schemeClr val="accent4">
              <a:lumMod val="20000"/>
              <a:lumOff val="80000"/>
              <a:alpha val="89804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fr-FR" sz="1200" dirty="0">
                <a:solidFill>
                  <a:schemeClr val="tx1"/>
                </a:solidFill>
              </a:rPr>
              <a:t>Chargement des modèles, </a:t>
            </a:r>
            <a:r>
              <a:rPr lang="fr-FR" sz="1200" dirty="0" err="1">
                <a:solidFill>
                  <a:schemeClr val="tx1"/>
                </a:solidFill>
              </a:rPr>
              <a:t>feature</a:t>
            </a:r>
            <a:r>
              <a:rPr lang="fr-FR" sz="1200" dirty="0">
                <a:solidFill>
                  <a:schemeClr val="tx1"/>
                </a:solidFill>
              </a:rPr>
              <a:t> engineering, </a:t>
            </a:r>
            <a:r>
              <a:rPr lang="fr-FR" sz="1200" dirty="0" err="1">
                <a:solidFill>
                  <a:schemeClr val="tx1"/>
                </a:solidFill>
              </a:rPr>
              <a:t>endpoint</a:t>
            </a:r>
            <a:r>
              <a:rPr lang="fr-FR" sz="1200" dirty="0">
                <a:solidFill>
                  <a:schemeClr val="tx1"/>
                </a:solidFill>
              </a:rPr>
              <a:t> </a:t>
            </a:r>
            <a:r>
              <a:rPr lang="fr-FR" sz="1200" dirty="0">
                <a:solidFill>
                  <a:schemeClr val="tx1"/>
                </a:solidFill>
                <a:sym typeface="Wingdings" panose="05000000000000000000" pitchFamily="2" charset="2"/>
              </a:rPr>
              <a:t> /</a:t>
            </a:r>
            <a:r>
              <a:rPr lang="fr-FR" sz="1200" dirty="0" err="1">
                <a:solidFill>
                  <a:schemeClr val="tx1"/>
                </a:solidFill>
                <a:sym typeface="Wingdings" panose="05000000000000000000" pitchFamily="2" charset="2"/>
              </a:rPr>
              <a:t>predict</a:t>
            </a:r>
            <a:endParaRPr lang="fr-FR" sz="1200" dirty="0">
              <a:solidFill>
                <a:schemeClr val="tx1"/>
              </a:solidFill>
            </a:endParaRPr>
          </a:p>
        </p:txBody>
      </p:sp>
      <p:cxnSp>
        <p:nvCxnSpPr>
          <p:cNvPr id="10" name="Connecteur : en angle 9">
            <a:extLst>
              <a:ext uri="{FF2B5EF4-FFF2-40B4-BE49-F238E27FC236}">
                <a16:creationId xmlns:a16="http://schemas.microsoft.com/office/drawing/2014/main" id="{DFD20FE5-D987-E9F0-5505-F44038A3FCF6}"/>
              </a:ext>
            </a:extLst>
          </p:cNvPr>
          <p:cNvCxnSpPr>
            <a:stCxn id="3" idx="3"/>
            <a:endCxn id="4" idx="1"/>
          </p:cNvCxnSpPr>
          <p:nvPr/>
        </p:nvCxnSpPr>
        <p:spPr>
          <a:xfrm flipV="1">
            <a:off x="2429435" y="1752134"/>
            <a:ext cx="797859" cy="285283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" name="Connecteur : en angle 11">
            <a:extLst>
              <a:ext uri="{FF2B5EF4-FFF2-40B4-BE49-F238E27FC236}">
                <a16:creationId xmlns:a16="http://schemas.microsoft.com/office/drawing/2014/main" id="{36F33AD4-AA77-E100-8CC5-B06D5DAED906}"/>
              </a:ext>
            </a:extLst>
          </p:cNvPr>
          <p:cNvCxnSpPr>
            <a:cxnSpLocks/>
            <a:stCxn id="3" idx="3"/>
            <a:endCxn id="6" idx="1"/>
          </p:cNvCxnSpPr>
          <p:nvPr/>
        </p:nvCxnSpPr>
        <p:spPr>
          <a:xfrm>
            <a:off x="2429435" y="2037417"/>
            <a:ext cx="1107141" cy="261190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Connecteur : en angle 14">
            <a:extLst>
              <a:ext uri="{FF2B5EF4-FFF2-40B4-BE49-F238E27FC236}">
                <a16:creationId xmlns:a16="http://schemas.microsoft.com/office/drawing/2014/main" id="{8A9E0C4B-2A60-BEC9-6044-7108B00949DE}"/>
              </a:ext>
            </a:extLst>
          </p:cNvPr>
          <p:cNvCxnSpPr>
            <a:cxnSpLocks/>
            <a:stCxn id="4" idx="3"/>
            <a:endCxn id="7" idx="1"/>
          </p:cNvCxnSpPr>
          <p:nvPr/>
        </p:nvCxnSpPr>
        <p:spPr>
          <a:xfrm>
            <a:off x="5199530" y="1752134"/>
            <a:ext cx="627530" cy="1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" name="Connecteur : en angle 16">
            <a:extLst>
              <a:ext uri="{FF2B5EF4-FFF2-40B4-BE49-F238E27FC236}">
                <a16:creationId xmlns:a16="http://schemas.microsoft.com/office/drawing/2014/main" id="{C72DF34A-0D23-591D-A322-042123305CA4}"/>
              </a:ext>
            </a:extLst>
          </p:cNvPr>
          <p:cNvCxnSpPr>
            <a:cxnSpLocks/>
            <a:stCxn id="6" idx="3"/>
            <a:endCxn id="8" idx="1"/>
          </p:cNvCxnSpPr>
          <p:nvPr/>
        </p:nvCxnSpPr>
        <p:spPr>
          <a:xfrm>
            <a:off x="4890247" y="2298607"/>
            <a:ext cx="936813" cy="1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03A1C026-8C47-F193-3771-7960C4C80F91}"/>
              </a:ext>
            </a:extLst>
          </p:cNvPr>
          <p:cNvSpPr/>
          <p:nvPr/>
        </p:nvSpPr>
        <p:spPr>
          <a:xfrm>
            <a:off x="3227294" y="3065089"/>
            <a:ext cx="1972236" cy="385109"/>
          </a:xfrm>
          <a:prstGeom prst="roundRect">
            <a:avLst/>
          </a:prstGeom>
          <a:solidFill>
            <a:schemeClr val="accent2">
              <a:lumMod val="20000"/>
              <a:lumOff val="80000"/>
              <a:alpha val="89804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solidFill>
                  <a:schemeClr val="tx1"/>
                </a:solidFill>
              </a:rPr>
              <a:t>Packaging Bento</a:t>
            </a:r>
          </a:p>
        </p:txBody>
      </p:sp>
      <p:sp>
        <p:nvSpPr>
          <p:cNvPr id="19" name="Rectangle : coins arrondis 18">
            <a:extLst>
              <a:ext uri="{FF2B5EF4-FFF2-40B4-BE49-F238E27FC236}">
                <a16:creationId xmlns:a16="http://schemas.microsoft.com/office/drawing/2014/main" id="{3FED36EE-D1A5-32F9-F38B-E91E459F632D}"/>
              </a:ext>
            </a:extLst>
          </p:cNvPr>
          <p:cNvSpPr/>
          <p:nvPr/>
        </p:nvSpPr>
        <p:spPr>
          <a:xfrm>
            <a:off x="3536575" y="3606427"/>
            <a:ext cx="1353671" cy="385108"/>
          </a:xfrm>
          <a:prstGeom prst="roundRect">
            <a:avLst/>
          </a:prstGeom>
          <a:solidFill>
            <a:schemeClr val="accent4">
              <a:lumMod val="20000"/>
              <a:lumOff val="80000"/>
              <a:alpha val="89804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solidFill>
                  <a:schemeClr val="tx1"/>
                </a:solidFill>
              </a:rPr>
              <a:t>Docker</a:t>
            </a:r>
          </a:p>
        </p:txBody>
      </p:sp>
      <p:sp>
        <p:nvSpPr>
          <p:cNvPr id="20" name="Rectangle : coins arrondis 19">
            <a:extLst>
              <a:ext uri="{FF2B5EF4-FFF2-40B4-BE49-F238E27FC236}">
                <a16:creationId xmlns:a16="http://schemas.microsoft.com/office/drawing/2014/main" id="{F864C3A2-CC07-FFF2-94A3-342D8C288A05}"/>
              </a:ext>
            </a:extLst>
          </p:cNvPr>
          <p:cNvSpPr/>
          <p:nvPr/>
        </p:nvSpPr>
        <p:spPr>
          <a:xfrm>
            <a:off x="5827060" y="3016158"/>
            <a:ext cx="2537011" cy="472701"/>
          </a:xfrm>
          <a:prstGeom prst="roundRect">
            <a:avLst/>
          </a:prstGeom>
          <a:solidFill>
            <a:schemeClr val="accent2">
              <a:lumMod val="20000"/>
              <a:lumOff val="80000"/>
              <a:alpha val="89804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fr-FR" sz="1200" dirty="0" err="1">
                <a:solidFill>
                  <a:schemeClr val="tx1"/>
                </a:solidFill>
              </a:rPr>
              <a:t>Bentofile.yaml</a:t>
            </a:r>
            <a:r>
              <a:rPr lang="fr-FR" sz="1200" dirty="0">
                <a:solidFill>
                  <a:schemeClr val="tx1"/>
                </a:solidFill>
              </a:rPr>
              <a:t> (liste des ingrédients)</a:t>
            </a:r>
          </a:p>
        </p:txBody>
      </p:sp>
      <p:sp>
        <p:nvSpPr>
          <p:cNvPr id="21" name="Rectangle : coins arrondis 20">
            <a:extLst>
              <a:ext uri="{FF2B5EF4-FFF2-40B4-BE49-F238E27FC236}">
                <a16:creationId xmlns:a16="http://schemas.microsoft.com/office/drawing/2014/main" id="{2A231EF9-FEF0-85B5-6547-5AE82ACBD1C9}"/>
              </a:ext>
            </a:extLst>
          </p:cNvPr>
          <p:cNvSpPr/>
          <p:nvPr/>
        </p:nvSpPr>
        <p:spPr>
          <a:xfrm>
            <a:off x="5827059" y="3562631"/>
            <a:ext cx="3711387" cy="472701"/>
          </a:xfrm>
          <a:prstGeom prst="roundRect">
            <a:avLst/>
          </a:prstGeom>
          <a:solidFill>
            <a:schemeClr val="accent4">
              <a:lumMod val="20000"/>
              <a:lumOff val="80000"/>
              <a:alpha val="89804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fr-FR" sz="1200" dirty="0">
                <a:solidFill>
                  <a:schemeClr val="tx1"/>
                </a:solidFill>
              </a:rPr>
              <a:t>Création d’un conteneur avec l’ensemble des éléments nécessaires au fonctionnement des modèles</a:t>
            </a:r>
          </a:p>
        </p:txBody>
      </p:sp>
      <p:cxnSp>
        <p:nvCxnSpPr>
          <p:cNvPr id="25" name="Connecteur : en angle 24">
            <a:extLst>
              <a:ext uri="{FF2B5EF4-FFF2-40B4-BE49-F238E27FC236}">
                <a16:creationId xmlns:a16="http://schemas.microsoft.com/office/drawing/2014/main" id="{A7FF4325-60EF-F78F-821E-8B8F5208289A}"/>
              </a:ext>
            </a:extLst>
          </p:cNvPr>
          <p:cNvCxnSpPr>
            <a:stCxn id="5" idx="3"/>
            <a:endCxn id="18" idx="1"/>
          </p:cNvCxnSpPr>
          <p:nvPr/>
        </p:nvCxnSpPr>
        <p:spPr>
          <a:xfrm flipV="1">
            <a:off x="2429435" y="3257644"/>
            <a:ext cx="797859" cy="256055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7" name="Connecteur : en angle 26">
            <a:extLst>
              <a:ext uri="{FF2B5EF4-FFF2-40B4-BE49-F238E27FC236}">
                <a16:creationId xmlns:a16="http://schemas.microsoft.com/office/drawing/2014/main" id="{A0392CEB-D0AF-C843-AE8D-EBA863AA0622}"/>
              </a:ext>
            </a:extLst>
          </p:cNvPr>
          <p:cNvCxnSpPr>
            <a:stCxn id="5" idx="3"/>
            <a:endCxn id="19" idx="1"/>
          </p:cNvCxnSpPr>
          <p:nvPr/>
        </p:nvCxnSpPr>
        <p:spPr>
          <a:xfrm>
            <a:off x="2429435" y="3513699"/>
            <a:ext cx="1107140" cy="285282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9" name="Connecteur : en angle 28">
            <a:extLst>
              <a:ext uri="{FF2B5EF4-FFF2-40B4-BE49-F238E27FC236}">
                <a16:creationId xmlns:a16="http://schemas.microsoft.com/office/drawing/2014/main" id="{B03919F5-35E0-C683-BA6B-4BF00822F9B3}"/>
              </a:ext>
            </a:extLst>
          </p:cNvPr>
          <p:cNvCxnSpPr>
            <a:stCxn id="18" idx="3"/>
            <a:endCxn id="20" idx="1"/>
          </p:cNvCxnSpPr>
          <p:nvPr/>
        </p:nvCxnSpPr>
        <p:spPr>
          <a:xfrm flipV="1">
            <a:off x="5199530" y="3252509"/>
            <a:ext cx="627530" cy="5135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1" name="Connecteur : en angle 30">
            <a:extLst>
              <a:ext uri="{FF2B5EF4-FFF2-40B4-BE49-F238E27FC236}">
                <a16:creationId xmlns:a16="http://schemas.microsoft.com/office/drawing/2014/main" id="{E6AB1DBA-FC45-E42A-8C6D-A5F36BC11155}"/>
              </a:ext>
            </a:extLst>
          </p:cNvPr>
          <p:cNvCxnSpPr>
            <a:stCxn id="19" idx="3"/>
            <a:endCxn id="21" idx="1"/>
          </p:cNvCxnSpPr>
          <p:nvPr/>
        </p:nvCxnSpPr>
        <p:spPr>
          <a:xfrm>
            <a:off x="4890246" y="3798981"/>
            <a:ext cx="936813" cy="1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2" name="Rectangle : coins arrondis 31">
            <a:extLst>
              <a:ext uri="{FF2B5EF4-FFF2-40B4-BE49-F238E27FC236}">
                <a16:creationId xmlns:a16="http://schemas.microsoft.com/office/drawing/2014/main" id="{F46BDFE2-60DE-E6A4-AFBC-98622F2B03A3}"/>
              </a:ext>
            </a:extLst>
          </p:cNvPr>
          <p:cNvSpPr/>
          <p:nvPr/>
        </p:nvSpPr>
        <p:spPr>
          <a:xfrm>
            <a:off x="286871" y="4498417"/>
            <a:ext cx="2142564" cy="995082"/>
          </a:xfrm>
          <a:prstGeom prst="roundRect">
            <a:avLst/>
          </a:prstGeom>
          <a:solidFill>
            <a:schemeClr val="accent1">
              <a:lumMod val="20000"/>
              <a:lumOff val="80000"/>
              <a:alpha val="89804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600" dirty="0">
                <a:solidFill>
                  <a:schemeClr val="tx1"/>
                </a:solidFill>
              </a:rPr>
              <a:t>3. Déploiement Cloud AWS</a:t>
            </a:r>
          </a:p>
        </p:txBody>
      </p:sp>
      <p:sp>
        <p:nvSpPr>
          <p:cNvPr id="33" name="Rectangle : coins arrondis 32">
            <a:extLst>
              <a:ext uri="{FF2B5EF4-FFF2-40B4-BE49-F238E27FC236}">
                <a16:creationId xmlns:a16="http://schemas.microsoft.com/office/drawing/2014/main" id="{4AE70FC0-F1E4-959C-D5DA-301BAB45E5E2}"/>
              </a:ext>
            </a:extLst>
          </p:cNvPr>
          <p:cNvSpPr/>
          <p:nvPr/>
        </p:nvSpPr>
        <p:spPr>
          <a:xfrm>
            <a:off x="3536574" y="4547349"/>
            <a:ext cx="1353671" cy="385109"/>
          </a:xfrm>
          <a:prstGeom prst="roundRect">
            <a:avLst/>
          </a:prstGeom>
          <a:solidFill>
            <a:schemeClr val="accent2">
              <a:lumMod val="20000"/>
              <a:lumOff val="80000"/>
              <a:alpha val="89804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solidFill>
                  <a:schemeClr val="tx1"/>
                </a:solidFill>
              </a:rPr>
              <a:t>AWS ECR</a:t>
            </a:r>
          </a:p>
        </p:txBody>
      </p:sp>
      <p:sp>
        <p:nvSpPr>
          <p:cNvPr id="34" name="Rectangle : coins arrondis 33">
            <a:extLst>
              <a:ext uri="{FF2B5EF4-FFF2-40B4-BE49-F238E27FC236}">
                <a16:creationId xmlns:a16="http://schemas.microsoft.com/office/drawing/2014/main" id="{7F037C73-68BD-C94A-F65B-86D688D4E5D1}"/>
              </a:ext>
            </a:extLst>
          </p:cNvPr>
          <p:cNvSpPr/>
          <p:nvPr/>
        </p:nvSpPr>
        <p:spPr>
          <a:xfrm>
            <a:off x="3435720" y="5088686"/>
            <a:ext cx="1555378" cy="385108"/>
          </a:xfrm>
          <a:prstGeom prst="roundRect">
            <a:avLst/>
          </a:prstGeom>
          <a:solidFill>
            <a:schemeClr val="accent4">
              <a:lumMod val="20000"/>
              <a:lumOff val="80000"/>
              <a:alpha val="89804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solidFill>
                  <a:schemeClr val="tx1"/>
                </a:solidFill>
              </a:rPr>
              <a:t>ECS </a:t>
            </a:r>
            <a:r>
              <a:rPr lang="fr-FR" sz="1400" dirty="0" err="1">
                <a:solidFill>
                  <a:schemeClr val="tx1"/>
                </a:solidFill>
              </a:rPr>
              <a:t>Fargate</a:t>
            </a:r>
            <a:endParaRPr lang="fr-FR" sz="1400" dirty="0">
              <a:solidFill>
                <a:schemeClr val="tx1"/>
              </a:solidFill>
            </a:endParaRPr>
          </a:p>
        </p:txBody>
      </p:sp>
      <p:sp>
        <p:nvSpPr>
          <p:cNvPr id="35" name="Rectangle : coins arrondis 34">
            <a:extLst>
              <a:ext uri="{FF2B5EF4-FFF2-40B4-BE49-F238E27FC236}">
                <a16:creationId xmlns:a16="http://schemas.microsoft.com/office/drawing/2014/main" id="{853D9109-3812-EEE9-9200-98E10355C70E}"/>
              </a:ext>
            </a:extLst>
          </p:cNvPr>
          <p:cNvSpPr/>
          <p:nvPr/>
        </p:nvSpPr>
        <p:spPr>
          <a:xfrm>
            <a:off x="5827060" y="4498417"/>
            <a:ext cx="2537011" cy="472701"/>
          </a:xfrm>
          <a:prstGeom prst="roundRect">
            <a:avLst/>
          </a:prstGeom>
          <a:solidFill>
            <a:schemeClr val="accent2">
              <a:lumMod val="20000"/>
              <a:lumOff val="80000"/>
              <a:alpha val="89804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fr-FR" sz="1200" dirty="0">
                <a:solidFill>
                  <a:schemeClr val="tx1"/>
                </a:solidFill>
              </a:rPr>
              <a:t>Repository privé, on push et stock l’image Docker</a:t>
            </a:r>
          </a:p>
        </p:txBody>
      </p:sp>
      <p:sp>
        <p:nvSpPr>
          <p:cNvPr id="36" name="Rectangle : coins arrondis 35">
            <a:extLst>
              <a:ext uri="{FF2B5EF4-FFF2-40B4-BE49-F238E27FC236}">
                <a16:creationId xmlns:a16="http://schemas.microsoft.com/office/drawing/2014/main" id="{12BCB4E3-095F-8D8A-CADA-F494C4078EEC}"/>
              </a:ext>
            </a:extLst>
          </p:cNvPr>
          <p:cNvSpPr/>
          <p:nvPr/>
        </p:nvSpPr>
        <p:spPr>
          <a:xfrm>
            <a:off x="5827059" y="5044890"/>
            <a:ext cx="3711387" cy="472701"/>
          </a:xfrm>
          <a:prstGeom prst="roundRect">
            <a:avLst/>
          </a:prstGeom>
          <a:solidFill>
            <a:schemeClr val="accent4">
              <a:lumMod val="20000"/>
              <a:lumOff val="80000"/>
              <a:alpha val="89804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fr-FR" sz="1200" dirty="0">
                <a:solidFill>
                  <a:schemeClr val="tx1"/>
                </a:solidFill>
              </a:rPr>
              <a:t>Lancement du conteneur, IP publique, API, </a:t>
            </a:r>
            <a:r>
              <a:rPr lang="fr-FR" sz="1200" dirty="0" err="1">
                <a:solidFill>
                  <a:schemeClr val="tx1"/>
                </a:solidFill>
              </a:rPr>
              <a:t>endpoint</a:t>
            </a:r>
            <a:endParaRPr lang="fr-FR" sz="1200" dirty="0">
              <a:solidFill>
                <a:schemeClr val="tx1"/>
              </a:solidFill>
            </a:endParaRPr>
          </a:p>
        </p:txBody>
      </p:sp>
      <p:cxnSp>
        <p:nvCxnSpPr>
          <p:cNvPr id="37" name="Connecteur : en angle 36">
            <a:extLst>
              <a:ext uri="{FF2B5EF4-FFF2-40B4-BE49-F238E27FC236}">
                <a16:creationId xmlns:a16="http://schemas.microsoft.com/office/drawing/2014/main" id="{7B8DB853-A0A5-A6C9-4641-B8845ACF4873}"/>
              </a:ext>
            </a:extLst>
          </p:cNvPr>
          <p:cNvCxnSpPr>
            <a:cxnSpLocks/>
            <a:stCxn id="32" idx="3"/>
            <a:endCxn id="33" idx="1"/>
          </p:cNvCxnSpPr>
          <p:nvPr/>
        </p:nvCxnSpPr>
        <p:spPr>
          <a:xfrm flipV="1">
            <a:off x="2429435" y="4739904"/>
            <a:ext cx="1107139" cy="256054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8" name="Connecteur : en angle 37">
            <a:extLst>
              <a:ext uri="{FF2B5EF4-FFF2-40B4-BE49-F238E27FC236}">
                <a16:creationId xmlns:a16="http://schemas.microsoft.com/office/drawing/2014/main" id="{8E17A7D8-5274-4BF4-2A7B-8A8BFAAB8DC1}"/>
              </a:ext>
            </a:extLst>
          </p:cNvPr>
          <p:cNvCxnSpPr>
            <a:cxnSpLocks/>
            <a:stCxn id="32" idx="3"/>
            <a:endCxn id="34" idx="1"/>
          </p:cNvCxnSpPr>
          <p:nvPr/>
        </p:nvCxnSpPr>
        <p:spPr>
          <a:xfrm>
            <a:off x="2429435" y="4995958"/>
            <a:ext cx="1006285" cy="285282"/>
          </a:xfrm>
          <a:prstGeom prst="bentConnector3">
            <a:avLst>
              <a:gd name="adj1" fmla="val 74054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9" name="Connecteur : en angle 38">
            <a:extLst>
              <a:ext uri="{FF2B5EF4-FFF2-40B4-BE49-F238E27FC236}">
                <a16:creationId xmlns:a16="http://schemas.microsoft.com/office/drawing/2014/main" id="{DB954A25-F0FB-5933-77C9-46031B999928}"/>
              </a:ext>
            </a:extLst>
          </p:cNvPr>
          <p:cNvCxnSpPr>
            <a:cxnSpLocks/>
            <a:stCxn id="33" idx="3"/>
            <a:endCxn id="35" idx="1"/>
          </p:cNvCxnSpPr>
          <p:nvPr/>
        </p:nvCxnSpPr>
        <p:spPr>
          <a:xfrm flipV="1">
            <a:off x="4890245" y="4734768"/>
            <a:ext cx="936815" cy="5136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0" name="Connecteur : en angle 39">
            <a:extLst>
              <a:ext uri="{FF2B5EF4-FFF2-40B4-BE49-F238E27FC236}">
                <a16:creationId xmlns:a16="http://schemas.microsoft.com/office/drawing/2014/main" id="{019E7214-7407-A5EE-08CD-F5DD2C9AB7B0}"/>
              </a:ext>
            </a:extLst>
          </p:cNvPr>
          <p:cNvCxnSpPr>
            <a:cxnSpLocks/>
            <a:stCxn id="34" idx="3"/>
            <a:endCxn id="36" idx="1"/>
          </p:cNvCxnSpPr>
          <p:nvPr/>
        </p:nvCxnSpPr>
        <p:spPr>
          <a:xfrm>
            <a:off x="4991098" y="5281240"/>
            <a:ext cx="835961" cy="1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0" name="ZoneTexte 49">
            <a:extLst>
              <a:ext uri="{FF2B5EF4-FFF2-40B4-BE49-F238E27FC236}">
                <a16:creationId xmlns:a16="http://schemas.microsoft.com/office/drawing/2014/main" id="{D124E7FC-23C9-4BBF-2B55-44496353EE1B}"/>
              </a:ext>
            </a:extLst>
          </p:cNvPr>
          <p:cNvSpPr txBox="1"/>
          <p:nvPr/>
        </p:nvSpPr>
        <p:spPr>
          <a:xfrm>
            <a:off x="2312892" y="5956584"/>
            <a:ext cx="47288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 i="1" dirty="0"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http://35.180.125.72:3000/</a:t>
            </a:r>
            <a:endParaRPr lang="fr-FR" sz="2800" b="1" i="1" dirty="0">
              <a:solidFill>
                <a:schemeClr val="accent6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6285989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18" grpId="0" animBg="1"/>
      <p:bldP spid="19" grpId="0" animBg="1"/>
      <p:bldP spid="20" grpId="0" animBg="1"/>
      <p:bldP spid="2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50" grpId="0"/>
    </p:bld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6F7877">
            <a:alpha val="89804"/>
          </a:srgbClr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1190</Words>
  <Application>Microsoft Office PowerPoint</Application>
  <PresentationFormat>Grand écran</PresentationFormat>
  <Paragraphs>200</Paragraphs>
  <Slides>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1" baseType="lpstr">
      <vt:lpstr>Arial</vt:lpstr>
      <vt:lpstr>Calibri</vt:lpstr>
      <vt:lpstr>Wingdings</vt:lpstr>
      <vt:lpstr>Thème Office</vt:lpstr>
      <vt:lpstr>Développement et déploiement Cloud AWS d’un modèle prédictif pour la consommation d’énergie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Téo GOTHIÉ</dc:creator>
  <cp:lastModifiedBy>Téo GOTHIÉ</cp:lastModifiedBy>
  <cp:revision>20</cp:revision>
  <dcterms:created xsi:type="dcterms:W3CDTF">2026-03-20T09:37:29Z</dcterms:created>
  <dcterms:modified xsi:type="dcterms:W3CDTF">2026-03-27T08:40:42Z</dcterms:modified>
</cp:coreProperties>
</file>